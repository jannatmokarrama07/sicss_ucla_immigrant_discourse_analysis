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8288000" cy="10287000"/>
  <p:notesSz cx="6858000" cy="9144000"/>
  <p:embeddedFontLst>
    <p:embeddedFont>
      <p:font typeface="Canva Sans" panose="020B0604020202020204" charset="0"/>
      <p:regular r:id="rId33"/>
    </p:embeddedFont>
    <p:embeddedFont>
      <p:font typeface="DM Serif Display" pitchFamily="2" charset="0"/>
      <p:regular r:id="rId34"/>
    </p:embeddedFont>
    <p:embeddedFont>
      <p:font typeface="Open Sauce" panose="020B0604020202020204" charset="0"/>
      <p:regular r:id="rId35"/>
    </p:embeddedFont>
    <p:embeddedFont>
      <p:font typeface="Open Sauce Bold" panose="020B0604020202020204" charset="0"/>
      <p:regular r:id="rId36"/>
    </p:embeddedFont>
    <p:embeddedFont>
      <p:font typeface="Open Sauce Italics" panose="020B060402020202020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260"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5.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pbs.org/newshour/politics/live-updates-donald-trumps-2025-inauguration-day" TargetMode="External"/><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hyperlink" Target="https://abc7.com/post/thousands-march-101-freeway-downtown-los-angeles-during-protest-deportations/15857649/" TargetMode="External"/><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8575" y="952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US"/>
          </a:p>
        </p:txBody>
      </p:sp>
      <p:sp>
        <p:nvSpPr>
          <p:cNvPr id="3" name="TextBox 3"/>
          <p:cNvSpPr txBox="1"/>
          <p:nvPr/>
        </p:nvSpPr>
        <p:spPr>
          <a:xfrm>
            <a:off x="1630481" y="1150995"/>
            <a:ext cx="15163937" cy="3479801"/>
          </a:xfrm>
          <a:prstGeom prst="rect">
            <a:avLst/>
          </a:prstGeom>
        </p:spPr>
        <p:txBody>
          <a:bodyPr lIns="0" tIns="0" rIns="0" bIns="0" rtlCol="0" anchor="t">
            <a:spAutoFit/>
          </a:bodyPr>
          <a:lstStyle/>
          <a:p>
            <a:pPr algn="ctr">
              <a:lnSpc>
                <a:spcPts val="13999"/>
              </a:lnSpc>
            </a:pPr>
            <a:r>
              <a:rPr lang="en-US" sz="9999" dirty="0">
                <a:solidFill>
                  <a:srgbClr val="000000"/>
                </a:solidFill>
                <a:latin typeface="DM Serif Display"/>
                <a:ea typeface="DM Serif Display"/>
                <a:cs typeface="DM Serif Display"/>
                <a:sym typeface="DM Serif Display"/>
              </a:rPr>
              <a:t>Immigrant Discourse &amp; the Age of Trump</a:t>
            </a:r>
          </a:p>
        </p:txBody>
      </p:sp>
      <p:sp>
        <p:nvSpPr>
          <p:cNvPr id="4" name="TextBox 4"/>
          <p:cNvSpPr txBox="1"/>
          <p:nvPr/>
        </p:nvSpPr>
        <p:spPr>
          <a:xfrm>
            <a:off x="4248993" y="5387192"/>
            <a:ext cx="9926914" cy="530860"/>
          </a:xfrm>
          <a:prstGeom prst="rect">
            <a:avLst/>
          </a:prstGeom>
        </p:spPr>
        <p:txBody>
          <a:bodyPr lIns="0" tIns="0" rIns="0" bIns="0" rtlCol="0" anchor="t">
            <a:spAutoFit/>
          </a:bodyPr>
          <a:lstStyle/>
          <a:p>
            <a:pPr algn="ctr">
              <a:lnSpc>
                <a:spcPts val="4339"/>
              </a:lnSpc>
              <a:spcBef>
                <a:spcPct val="0"/>
              </a:spcBef>
            </a:pPr>
            <a:r>
              <a:rPr lang="en-US" sz="3099" spc="309" dirty="0">
                <a:solidFill>
                  <a:srgbClr val="000000"/>
                </a:solidFill>
                <a:latin typeface="Open Sauce"/>
                <a:ea typeface="Open Sauce"/>
                <a:cs typeface="Open Sauce"/>
                <a:sym typeface="Open Sauce"/>
              </a:rPr>
              <a:t>ON REDDIT WITH NLP METHODS</a:t>
            </a:r>
          </a:p>
        </p:txBody>
      </p:sp>
      <p:sp>
        <p:nvSpPr>
          <p:cNvPr id="5" name="TextBox 5"/>
          <p:cNvSpPr txBox="1"/>
          <p:nvPr/>
        </p:nvSpPr>
        <p:spPr>
          <a:xfrm>
            <a:off x="492338" y="7463913"/>
            <a:ext cx="17026433" cy="570865"/>
          </a:xfrm>
          <a:prstGeom prst="rect">
            <a:avLst/>
          </a:prstGeom>
        </p:spPr>
        <p:txBody>
          <a:bodyPr lIns="0" tIns="0" rIns="0" bIns="0" rtlCol="0" anchor="t">
            <a:spAutoFit/>
          </a:bodyPr>
          <a:lstStyle/>
          <a:p>
            <a:pPr algn="ctr">
              <a:lnSpc>
                <a:spcPts val="4759"/>
              </a:lnSpc>
              <a:spcBef>
                <a:spcPct val="0"/>
              </a:spcBef>
            </a:pPr>
            <a:r>
              <a:rPr lang="en-US" sz="3399">
                <a:solidFill>
                  <a:srgbClr val="000000">
                    <a:alpha val="49804"/>
                  </a:srgbClr>
                </a:solidFill>
                <a:latin typeface="DM Serif Display"/>
                <a:ea typeface="DM Serif Display"/>
                <a:cs typeface="DM Serif Display"/>
                <a:sym typeface="DM Serif Display"/>
              </a:rPr>
              <a:t>Miftahul Jannat Mokarrama, Alex Morales Flores, &amp; Anh Nguyen Tran</a:t>
            </a:r>
          </a:p>
        </p:txBody>
      </p:sp>
      <p:sp>
        <p:nvSpPr>
          <p:cNvPr id="6" name="TextBox 6"/>
          <p:cNvSpPr txBox="1"/>
          <p:nvPr/>
        </p:nvSpPr>
        <p:spPr>
          <a:xfrm>
            <a:off x="6930836" y="8623331"/>
            <a:ext cx="3450476" cy="859210"/>
          </a:xfrm>
          <a:prstGeom prst="rect">
            <a:avLst/>
          </a:prstGeom>
        </p:spPr>
        <p:txBody>
          <a:bodyPr lIns="0" tIns="0" rIns="0" bIns="0" rtlCol="0" anchor="t">
            <a:spAutoFit/>
          </a:bodyPr>
          <a:lstStyle/>
          <a:p>
            <a:pPr marL="0" lvl="0" indent="0" algn="ctr">
              <a:lnSpc>
                <a:spcPts val="3499"/>
              </a:lnSpc>
              <a:spcBef>
                <a:spcPct val="0"/>
              </a:spcBef>
            </a:pPr>
            <a:r>
              <a:rPr lang="en-US" sz="2499" spc="249" dirty="0">
                <a:solidFill>
                  <a:srgbClr val="000000">
                    <a:alpha val="49804"/>
                  </a:srgbClr>
                </a:solidFill>
                <a:latin typeface="Open Sauce"/>
                <a:ea typeface="Open Sauce"/>
                <a:cs typeface="Open Sauce"/>
                <a:sym typeface="Open Sauce"/>
              </a:rPr>
              <a:t>SICSS-UCLA </a:t>
            </a:r>
          </a:p>
          <a:p>
            <a:pPr marL="0" lvl="0" indent="0" algn="ctr">
              <a:lnSpc>
                <a:spcPts val="3499"/>
              </a:lnSpc>
              <a:spcBef>
                <a:spcPct val="0"/>
              </a:spcBef>
            </a:pPr>
            <a:r>
              <a:rPr lang="en-US" sz="2000" spc="249" dirty="0">
                <a:solidFill>
                  <a:srgbClr val="000000">
                    <a:alpha val="49804"/>
                  </a:srgbClr>
                </a:solidFill>
                <a:latin typeface="Open Sauce"/>
                <a:ea typeface="Open Sauce"/>
                <a:cs typeface="Open Sauce"/>
                <a:sym typeface="Open Sauce"/>
              </a:rPr>
              <a:t>08/29/2025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8174577" y="2252036"/>
            <a:ext cx="8307875" cy="1657985"/>
          </a:xfrm>
          <a:prstGeom prst="rect">
            <a:avLst/>
          </a:prstGeom>
        </p:spPr>
        <p:txBody>
          <a:bodyPr lIns="0" tIns="0" rIns="0" bIns="0" rtlCol="0" anchor="t">
            <a:spAutoFit/>
          </a:bodyPr>
          <a:lstStyle/>
          <a:p>
            <a:pPr marL="0" lvl="0" indent="0" algn="l">
              <a:lnSpc>
                <a:spcPts val="4479"/>
              </a:lnSpc>
            </a:pPr>
            <a:r>
              <a:rPr lang="en-US" sz="2799" dirty="0">
                <a:solidFill>
                  <a:srgbClr val="000000"/>
                </a:solidFill>
                <a:latin typeface="Open Sauce"/>
                <a:ea typeface="Open Sauce"/>
                <a:cs typeface="Open Sauce"/>
                <a:sym typeface="Open Sauce"/>
              </a:rPr>
              <a:t>How did Reddit discourse on immigration </a:t>
            </a:r>
            <a:r>
              <a:rPr lang="en-US" sz="2799" b="1" dirty="0">
                <a:solidFill>
                  <a:srgbClr val="000000"/>
                </a:solidFill>
                <a:latin typeface="Open Sauce Bold"/>
                <a:ea typeface="Open Sauce Bold"/>
                <a:cs typeface="Open Sauce Bold"/>
                <a:sym typeface="Open Sauce Bold"/>
              </a:rPr>
              <a:t>shift</a:t>
            </a:r>
            <a:r>
              <a:rPr lang="en-US" sz="2799" dirty="0">
                <a:solidFill>
                  <a:srgbClr val="000000"/>
                </a:solidFill>
                <a:latin typeface="Open Sauce"/>
                <a:ea typeface="Open Sauce"/>
                <a:cs typeface="Open Sauce"/>
                <a:sym typeface="Open Sauce"/>
              </a:rPr>
              <a:t> from January to July 2025 across r/immigration, r/politics, and r/</a:t>
            </a:r>
            <a:r>
              <a:rPr lang="en-US" sz="2799" dirty="0" err="1">
                <a:solidFill>
                  <a:srgbClr val="000000"/>
                </a:solidFill>
                <a:latin typeface="Open Sauce"/>
                <a:ea typeface="Open Sauce"/>
                <a:cs typeface="Open Sauce"/>
                <a:sym typeface="Open Sauce"/>
              </a:rPr>
              <a:t>PoliticalDiscussion</a:t>
            </a:r>
            <a:r>
              <a:rPr lang="en-US" sz="2799" dirty="0">
                <a:solidFill>
                  <a:srgbClr val="000000"/>
                </a:solidFill>
                <a:latin typeface="Open Sauce"/>
                <a:ea typeface="Open Sauce"/>
                <a:cs typeface="Open Sauce"/>
                <a:sym typeface="Open Sauce"/>
              </a:rPr>
              <a:t>?</a:t>
            </a:r>
          </a:p>
        </p:txBody>
      </p:sp>
      <p:grpSp>
        <p:nvGrpSpPr>
          <p:cNvPr id="4" name="Group 4"/>
          <p:cNvGrpSpPr/>
          <p:nvPr/>
        </p:nvGrpSpPr>
        <p:grpSpPr>
          <a:xfrm>
            <a:off x="6783262" y="2674320"/>
            <a:ext cx="909958" cy="90995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solidFill>
              <a:prstDash val="solid"/>
              <a:miter/>
            </a:ln>
          </p:spPr>
          <p:txBody>
            <a:bodyPr/>
            <a:lstStyle/>
            <a:p>
              <a:endParaRPr lang="en-US"/>
            </a:p>
          </p:txBody>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6810680" y="2772429"/>
            <a:ext cx="817023"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1</a:t>
            </a:r>
          </a:p>
        </p:txBody>
      </p:sp>
      <p:sp>
        <p:nvSpPr>
          <p:cNvPr id="8" name="TextBox 8"/>
          <p:cNvSpPr txBox="1"/>
          <p:nvPr/>
        </p:nvSpPr>
        <p:spPr>
          <a:xfrm>
            <a:off x="8174577" y="4786630"/>
            <a:ext cx="8307875" cy="1657985"/>
          </a:xfrm>
          <a:prstGeom prst="rect">
            <a:avLst/>
          </a:prstGeom>
        </p:spPr>
        <p:txBody>
          <a:bodyPr lIns="0" tIns="0" rIns="0" bIns="0" rtlCol="0" anchor="t">
            <a:spAutoFit/>
          </a:bodyPr>
          <a:lstStyle/>
          <a:p>
            <a:pPr marL="0" lvl="0" indent="0" algn="l">
              <a:lnSpc>
                <a:spcPts val="4479"/>
              </a:lnSpc>
            </a:pPr>
            <a:r>
              <a:rPr lang="en-US" sz="2799" dirty="0">
                <a:solidFill>
                  <a:srgbClr val="000000"/>
                </a:solidFill>
                <a:latin typeface="Open Sauce"/>
                <a:ea typeface="Open Sauce"/>
                <a:cs typeface="Open Sauce"/>
                <a:sym typeface="Open Sauce"/>
              </a:rPr>
              <a:t>Which </a:t>
            </a:r>
            <a:r>
              <a:rPr lang="en-US" sz="2799" b="1" dirty="0">
                <a:solidFill>
                  <a:srgbClr val="000000"/>
                </a:solidFill>
                <a:latin typeface="Open Sauce Bold"/>
                <a:ea typeface="Open Sauce Bold"/>
                <a:cs typeface="Open Sauce Bold"/>
                <a:sym typeface="Open Sauce Bold"/>
              </a:rPr>
              <a:t>frames</a:t>
            </a:r>
            <a:r>
              <a:rPr lang="en-US" sz="2799" dirty="0">
                <a:solidFill>
                  <a:srgbClr val="000000"/>
                </a:solidFill>
                <a:latin typeface="Open Sauce"/>
                <a:ea typeface="Open Sauce"/>
                <a:cs typeface="Open Sauce"/>
                <a:sym typeface="Open Sauce"/>
              </a:rPr>
              <a:t> dominated the Reddit discourse (e.g., Security, Economy, Culture/Identity, Law/Humanitarian)?</a:t>
            </a:r>
          </a:p>
        </p:txBody>
      </p:sp>
      <p:grpSp>
        <p:nvGrpSpPr>
          <p:cNvPr id="9" name="Group 9"/>
          <p:cNvGrpSpPr/>
          <p:nvPr/>
        </p:nvGrpSpPr>
        <p:grpSpPr>
          <a:xfrm>
            <a:off x="6764212" y="5143500"/>
            <a:ext cx="909958" cy="90995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solidFill>
              <a:prstDash val="solid"/>
              <a:miter/>
            </a:ln>
          </p:spPr>
          <p:txBody>
            <a:bodyPr/>
            <a:lstStyle/>
            <a:p>
              <a:endParaRPr lang="en-US"/>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2" name="TextBox 12"/>
          <p:cNvSpPr txBox="1"/>
          <p:nvPr/>
        </p:nvSpPr>
        <p:spPr>
          <a:xfrm>
            <a:off x="6810680" y="5232084"/>
            <a:ext cx="817023"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2</a:t>
            </a:r>
          </a:p>
        </p:txBody>
      </p:sp>
      <p:sp>
        <p:nvSpPr>
          <p:cNvPr id="13" name="TextBox 13"/>
          <p:cNvSpPr txBox="1"/>
          <p:nvPr/>
        </p:nvSpPr>
        <p:spPr>
          <a:xfrm>
            <a:off x="1853723" y="3734435"/>
            <a:ext cx="3822789" cy="22186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Research</a:t>
            </a:r>
          </a:p>
          <a:p>
            <a:pPr algn="l">
              <a:lnSpc>
                <a:spcPts val="8959"/>
              </a:lnSpc>
            </a:pPr>
            <a:r>
              <a:rPr lang="en-US" sz="6399">
                <a:solidFill>
                  <a:srgbClr val="000000"/>
                </a:solidFill>
                <a:latin typeface="DM Serif Display"/>
                <a:ea typeface="DM Serif Display"/>
                <a:cs typeface="DM Serif Display"/>
                <a:sym typeface="DM Serif Display"/>
              </a:rPr>
              <a:t>Questions</a:t>
            </a:r>
          </a:p>
        </p:txBody>
      </p:sp>
      <p:sp>
        <p:nvSpPr>
          <p:cNvPr id="14" name="AutoShape 14"/>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Freeform 4">
            <a:hlinkClick r:id="rId3" tooltip="https://www.pbs.org/newshour/politics/live-updates-donald-trumps-2025-inauguration-day"/>
          </p:cNvPr>
          <p:cNvSpPr/>
          <p:nvPr/>
        </p:nvSpPr>
        <p:spPr>
          <a:xfrm>
            <a:off x="9144000" y="2229682"/>
            <a:ext cx="8730540" cy="5827635"/>
          </a:xfrm>
          <a:custGeom>
            <a:avLst/>
            <a:gdLst/>
            <a:ahLst/>
            <a:cxnLst/>
            <a:rect l="l" t="t" r="r" b="b"/>
            <a:pathLst>
              <a:path w="8730540" h="5827635">
                <a:moveTo>
                  <a:pt x="0" y="0"/>
                </a:moveTo>
                <a:lnTo>
                  <a:pt x="8730540" y="0"/>
                </a:lnTo>
                <a:lnTo>
                  <a:pt x="8730540" y="5827636"/>
                </a:lnTo>
                <a:lnTo>
                  <a:pt x="0" y="5827636"/>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1166399" y="914400"/>
            <a:ext cx="5680710"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Background</a:t>
            </a:r>
          </a:p>
        </p:txBody>
      </p:sp>
      <p:sp>
        <p:nvSpPr>
          <p:cNvPr id="6" name="TextBox 6"/>
          <p:cNvSpPr txBox="1"/>
          <p:nvPr/>
        </p:nvSpPr>
        <p:spPr>
          <a:xfrm>
            <a:off x="880649" y="2481202"/>
            <a:ext cx="6860034" cy="6715760"/>
          </a:xfrm>
          <a:prstGeom prst="rect">
            <a:avLst/>
          </a:prstGeom>
        </p:spPr>
        <p:txBody>
          <a:bodyPr lIns="0" tIns="0" rIns="0" bIns="0" rtlCol="0" anchor="t">
            <a:spAutoFit/>
          </a:bodyPr>
          <a:lstStyle/>
          <a:p>
            <a:pPr marL="604519" lvl="1" indent="-302260" algn="l">
              <a:lnSpc>
                <a:spcPts val="4479"/>
              </a:lnSpc>
              <a:buFont typeface="Arial"/>
              <a:buChar char="•"/>
            </a:pPr>
            <a:r>
              <a:rPr lang="en-US" sz="2799" u="sng">
                <a:solidFill>
                  <a:srgbClr val="000000"/>
                </a:solidFill>
                <a:latin typeface="Open Sauce"/>
                <a:ea typeface="Open Sauce"/>
                <a:cs typeface="Open Sauce"/>
                <a:sym typeface="Open Sauce"/>
              </a:rPr>
              <a:t>January 2025</a:t>
            </a:r>
            <a:r>
              <a:rPr lang="en-US" sz="2799">
                <a:solidFill>
                  <a:srgbClr val="000000"/>
                </a:solidFill>
                <a:latin typeface="Open Sauce"/>
                <a:ea typeface="Open Sauce"/>
                <a:cs typeface="Open Sauce"/>
                <a:sym typeface="Open Sauce"/>
              </a:rPr>
              <a:t>: Trump’s inauguration</a:t>
            </a:r>
          </a:p>
          <a:p>
            <a:pPr algn="l">
              <a:lnSpc>
                <a:spcPts val="4479"/>
              </a:lnSpc>
            </a:pPr>
            <a:endParaRPr lang="en-US" sz="2799">
              <a:solidFill>
                <a:srgbClr val="000000"/>
              </a:solidFill>
              <a:latin typeface="Open Sauce"/>
              <a:ea typeface="Open Sauce"/>
              <a:cs typeface="Open Sauce"/>
              <a:sym typeface="Open Sauce"/>
            </a:endParaRPr>
          </a:p>
          <a:p>
            <a:pPr marL="604519" lvl="1" indent="-302260" algn="l">
              <a:lnSpc>
                <a:spcPts val="4479"/>
              </a:lnSpc>
              <a:buFont typeface="Arial"/>
              <a:buChar char="•"/>
            </a:pPr>
            <a:r>
              <a:rPr lang="en-US" sz="2799" u="sng">
                <a:solidFill>
                  <a:srgbClr val="000000"/>
                </a:solidFill>
                <a:latin typeface="Open Sauce"/>
                <a:ea typeface="Open Sauce"/>
                <a:cs typeface="Open Sauce"/>
                <a:sym typeface="Open Sauce"/>
              </a:rPr>
              <a:t>February 2025</a:t>
            </a:r>
            <a:r>
              <a:rPr lang="en-US" sz="2799">
                <a:solidFill>
                  <a:srgbClr val="000000"/>
                </a:solidFill>
                <a:latin typeface="Open Sauce"/>
                <a:ea typeface="Open Sauce"/>
                <a:cs typeface="Open Sauce"/>
                <a:sym typeface="Open Sauce"/>
              </a:rPr>
              <a:t>: Trump appoints personnel at Guantanamo Bay for detention and begins transfers</a:t>
            </a:r>
          </a:p>
          <a:p>
            <a:pPr algn="l">
              <a:lnSpc>
                <a:spcPts val="4479"/>
              </a:lnSpc>
            </a:pPr>
            <a:endParaRPr lang="en-US" sz="2799">
              <a:solidFill>
                <a:srgbClr val="000000"/>
              </a:solidFill>
              <a:latin typeface="Open Sauce"/>
              <a:ea typeface="Open Sauce"/>
              <a:cs typeface="Open Sauce"/>
              <a:sym typeface="Open Sauce"/>
            </a:endParaRPr>
          </a:p>
          <a:p>
            <a:pPr marL="604519" lvl="1" indent="-302260" algn="l">
              <a:lnSpc>
                <a:spcPts val="4479"/>
              </a:lnSpc>
              <a:buFont typeface="Arial"/>
              <a:buChar char="•"/>
            </a:pPr>
            <a:r>
              <a:rPr lang="en-US" sz="2799" u="sng">
                <a:solidFill>
                  <a:srgbClr val="000000"/>
                </a:solidFill>
                <a:latin typeface="Open Sauce"/>
                <a:ea typeface="Open Sauce"/>
                <a:cs typeface="Open Sauce"/>
                <a:sym typeface="Open Sauce"/>
              </a:rPr>
              <a:t>March 2025</a:t>
            </a:r>
            <a:r>
              <a:rPr lang="en-US" sz="2799">
                <a:solidFill>
                  <a:srgbClr val="000000"/>
                </a:solidFill>
                <a:latin typeface="Open Sauce"/>
                <a:ea typeface="Open Sauce"/>
                <a:cs typeface="Open Sauce"/>
                <a:sym typeface="Open Sauce"/>
              </a:rPr>
              <a:t>: Trump expands expedited removal and enacts Alien Enemies Act</a:t>
            </a:r>
          </a:p>
          <a:p>
            <a:pPr algn="l">
              <a:lnSpc>
                <a:spcPts val="4479"/>
              </a:lnSpc>
            </a:pPr>
            <a:endParaRPr lang="en-US" sz="2799">
              <a:solidFill>
                <a:srgbClr val="000000"/>
              </a:solidFill>
              <a:latin typeface="Open Sauce"/>
              <a:ea typeface="Open Sauce"/>
              <a:cs typeface="Open Sauce"/>
              <a:sym typeface="Open Sauce"/>
            </a:endParaRPr>
          </a:p>
          <a:p>
            <a:pPr marL="604519" lvl="1" indent="-302260" algn="l">
              <a:lnSpc>
                <a:spcPts val="4479"/>
              </a:lnSpc>
              <a:buFont typeface="Arial"/>
              <a:buChar char="•"/>
            </a:pPr>
            <a:r>
              <a:rPr lang="en-US" sz="2799" u="sng">
                <a:solidFill>
                  <a:srgbClr val="000000"/>
                </a:solidFill>
                <a:latin typeface="Open Sauce"/>
                <a:ea typeface="Open Sauce"/>
                <a:cs typeface="Open Sauce"/>
                <a:sym typeface="Open Sauce"/>
              </a:rPr>
              <a:t>April 2025</a:t>
            </a:r>
            <a:r>
              <a:rPr lang="en-US" sz="2799">
                <a:solidFill>
                  <a:srgbClr val="000000"/>
                </a:solidFill>
                <a:latin typeface="Open Sauce"/>
                <a:ea typeface="Open Sauce"/>
                <a:cs typeface="Open Sauce"/>
                <a:sym typeface="Open Sauce"/>
              </a:rPr>
              <a:t>: Trump threatens “sanctuary cities” </a:t>
            </a:r>
          </a:p>
        </p:txBody>
      </p:sp>
      <p:sp>
        <p:nvSpPr>
          <p:cNvPr id="7" name="TextBox 7"/>
          <p:cNvSpPr txBox="1"/>
          <p:nvPr/>
        </p:nvSpPr>
        <p:spPr>
          <a:xfrm>
            <a:off x="1166399" y="1943932"/>
            <a:ext cx="7792874" cy="514350"/>
          </a:xfrm>
          <a:prstGeom prst="rect">
            <a:avLst/>
          </a:prstGeom>
        </p:spPr>
        <p:txBody>
          <a:bodyPr lIns="0" tIns="0" rIns="0" bIns="0" rtlCol="0" anchor="t">
            <a:spAutoFit/>
          </a:bodyPr>
          <a:lstStyle/>
          <a:p>
            <a:pPr algn="l">
              <a:lnSpc>
                <a:spcPts val="4200"/>
              </a:lnSpc>
            </a:pPr>
            <a:r>
              <a:rPr lang="en-US" sz="3000">
                <a:solidFill>
                  <a:srgbClr val="000000"/>
                </a:solidFill>
                <a:latin typeface="DM Serif Display"/>
                <a:ea typeface="DM Serif Display"/>
                <a:cs typeface="DM Serif Display"/>
                <a:sym typeface="DM Serif Display"/>
              </a:rPr>
              <a:t>What is the current political landscape?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Freeform 4">
            <a:hlinkClick r:id="rId3" tooltip="https://abc7.com/post/thousands-march-101-freeway-downtown-los-angeles-during-protest-deportations/15857649/"/>
          </p:cNvPr>
          <p:cNvSpPr/>
          <p:nvPr/>
        </p:nvSpPr>
        <p:spPr>
          <a:xfrm>
            <a:off x="8617323" y="3182214"/>
            <a:ext cx="9110867" cy="5124863"/>
          </a:xfrm>
          <a:custGeom>
            <a:avLst/>
            <a:gdLst/>
            <a:ahLst/>
            <a:cxnLst/>
            <a:rect l="l" t="t" r="r" b="b"/>
            <a:pathLst>
              <a:path w="9110867" h="5124863">
                <a:moveTo>
                  <a:pt x="0" y="0"/>
                </a:moveTo>
                <a:lnTo>
                  <a:pt x="9110867" y="0"/>
                </a:lnTo>
                <a:lnTo>
                  <a:pt x="9110867" y="5124863"/>
                </a:lnTo>
                <a:lnTo>
                  <a:pt x="0" y="5124863"/>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1166399" y="1233825"/>
            <a:ext cx="5680710"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Background</a:t>
            </a:r>
          </a:p>
        </p:txBody>
      </p:sp>
      <p:sp>
        <p:nvSpPr>
          <p:cNvPr id="6" name="TextBox 6"/>
          <p:cNvSpPr txBox="1"/>
          <p:nvPr/>
        </p:nvSpPr>
        <p:spPr>
          <a:xfrm>
            <a:off x="880649" y="3067914"/>
            <a:ext cx="6860034" cy="6715760"/>
          </a:xfrm>
          <a:prstGeom prst="rect">
            <a:avLst/>
          </a:prstGeom>
        </p:spPr>
        <p:txBody>
          <a:bodyPr lIns="0" tIns="0" rIns="0" bIns="0" rtlCol="0" anchor="t">
            <a:spAutoFit/>
          </a:bodyPr>
          <a:lstStyle/>
          <a:p>
            <a:pPr marL="604519" lvl="1" indent="-302260" algn="l">
              <a:lnSpc>
                <a:spcPts val="4479"/>
              </a:lnSpc>
              <a:buFont typeface="Arial"/>
              <a:buChar char="•"/>
            </a:pPr>
            <a:r>
              <a:rPr lang="en-US" sz="2799" u="sng">
                <a:solidFill>
                  <a:srgbClr val="000000"/>
                </a:solidFill>
                <a:latin typeface="Open Sauce"/>
                <a:ea typeface="Open Sauce"/>
                <a:cs typeface="Open Sauce"/>
                <a:sym typeface="Open Sauce"/>
              </a:rPr>
              <a:t>May 2025</a:t>
            </a:r>
            <a:r>
              <a:rPr lang="en-US" sz="2799">
                <a:solidFill>
                  <a:srgbClr val="000000"/>
                </a:solidFill>
                <a:latin typeface="Open Sauce"/>
                <a:ea typeface="Open Sauce"/>
                <a:cs typeface="Open Sauce"/>
                <a:sym typeface="Open Sauce"/>
              </a:rPr>
              <a:t>: Trump offers financial incentive for self-deportation and designates some parts of the U.S.-Mexico border as militarized zones </a:t>
            </a:r>
          </a:p>
          <a:p>
            <a:pPr algn="l">
              <a:lnSpc>
                <a:spcPts val="4479"/>
              </a:lnSpc>
            </a:pPr>
            <a:endParaRPr lang="en-US" sz="2799">
              <a:solidFill>
                <a:srgbClr val="000000"/>
              </a:solidFill>
              <a:latin typeface="Open Sauce"/>
              <a:ea typeface="Open Sauce"/>
              <a:cs typeface="Open Sauce"/>
              <a:sym typeface="Open Sauce"/>
            </a:endParaRPr>
          </a:p>
          <a:p>
            <a:pPr marL="604519" lvl="1" indent="-302260" algn="l">
              <a:lnSpc>
                <a:spcPts val="4479"/>
              </a:lnSpc>
              <a:buFont typeface="Arial"/>
              <a:buChar char="•"/>
            </a:pPr>
            <a:r>
              <a:rPr lang="en-US" sz="2799" u="sng">
                <a:solidFill>
                  <a:srgbClr val="000000"/>
                </a:solidFill>
                <a:latin typeface="Open Sauce"/>
                <a:ea typeface="Open Sauce"/>
                <a:cs typeface="Open Sauce"/>
                <a:sym typeface="Open Sauce"/>
              </a:rPr>
              <a:t>June 2025</a:t>
            </a:r>
            <a:r>
              <a:rPr lang="en-US" sz="2799">
                <a:solidFill>
                  <a:srgbClr val="000000"/>
                </a:solidFill>
                <a:latin typeface="Open Sauce"/>
                <a:ea typeface="Open Sauce"/>
                <a:cs typeface="Open Sauce"/>
                <a:sym typeface="Open Sauce"/>
              </a:rPr>
              <a:t>: Trump sends in ICE agents and then the National Guard to Los Angeles</a:t>
            </a:r>
          </a:p>
          <a:p>
            <a:pPr algn="l">
              <a:lnSpc>
                <a:spcPts val="4479"/>
              </a:lnSpc>
            </a:pPr>
            <a:endParaRPr lang="en-US" sz="2799">
              <a:solidFill>
                <a:srgbClr val="000000"/>
              </a:solidFill>
              <a:latin typeface="Open Sauce"/>
              <a:ea typeface="Open Sauce"/>
              <a:cs typeface="Open Sauce"/>
              <a:sym typeface="Open Sauce"/>
            </a:endParaRPr>
          </a:p>
          <a:p>
            <a:pPr marL="604519" lvl="1" indent="-302260" algn="l">
              <a:lnSpc>
                <a:spcPts val="4479"/>
              </a:lnSpc>
              <a:buFont typeface="Arial"/>
              <a:buChar char="•"/>
            </a:pPr>
            <a:r>
              <a:rPr lang="en-US" sz="2799" u="sng">
                <a:solidFill>
                  <a:srgbClr val="000000"/>
                </a:solidFill>
                <a:latin typeface="Open Sauce"/>
                <a:ea typeface="Open Sauce"/>
                <a:cs typeface="Open Sauce"/>
                <a:sym typeface="Open Sauce"/>
              </a:rPr>
              <a:t>July 2025</a:t>
            </a:r>
            <a:r>
              <a:rPr lang="en-US" sz="2799">
                <a:solidFill>
                  <a:srgbClr val="000000"/>
                </a:solidFill>
                <a:latin typeface="Open Sauce"/>
                <a:ea typeface="Open Sauce"/>
                <a:cs typeface="Open Sauce"/>
                <a:sym typeface="Open Sauce"/>
              </a:rPr>
              <a:t>: “Big Beautiful Bill” is signed which expands detention centers and increases ICE’s budget</a:t>
            </a:r>
          </a:p>
        </p:txBody>
      </p:sp>
      <p:sp>
        <p:nvSpPr>
          <p:cNvPr id="7" name="TextBox 7"/>
          <p:cNvSpPr txBox="1"/>
          <p:nvPr/>
        </p:nvSpPr>
        <p:spPr>
          <a:xfrm>
            <a:off x="1166399" y="2382114"/>
            <a:ext cx="8242687" cy="514350"/>
          </a:xfrm>
          <a:prstGeom prst="rect">
            <a:avLst/>
          </a:prstGeom>
        </p:spPr>
        <p:txBody>
          <a:bodyPr lIns="0" tIns="0" rIns="0" bIns="0" rtlCol="0" anchor="t">
            <a:spAutoFit/>
          </a:bodyPr>
          <a:lstStyle/>
          <a:p>
            <a:pPr algn="l">
              <a:lnSpc>
                <a:spcPts val="4200"/>
              </a:lnSpc>
            </a:pPr>
            <a:r>
              <a:rPr lang="en-US" sz="3000">
                <a:solidFill>
                  <a:srgbClr val="000000"/>
                </a:solidFill>
                <a:latin typeface="DM Serif Display"/>
                <a:ea typeface="DM Serif Display"/>
                <a:cs typeface="DM Serif Display"/>
                <a:sym typeface="DM Serif Display"/>
              </a:rPr>
              <a:t>What is the current political landscape? cont.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166399" y="1233825"/>
            <a:ext cx="7445029"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a:t>
            </a:r>
          </a:p>
        </p:txBody>
      </p:sp>
      <p:sp>
        <p:nvSpPr>
          <p:cNvPr id="5" name="TextBox 5"/>
          <p:cNvSpPr txBox="1"/>
          <p:nvPr/>
        </p:nvSpPr>
        <p:spPr>
          <a:xfrm>
            <a:off x="1175924" y="2411433"/>
            <a:ext cx="16271272" cy="1430655"/>
          </a:xfrm>
          <a:prstGeom prst="rect">
            <a:avLst/>
          </a:prstGeom>
        </p:spPr>
        <p:txBody>
          <a:bodyPr lIns="0" tIns="0" rIns="0" bIns="0" rtlCol="0" anchor="t">
            <a:spAutoFit/>
          </a:bodyPr>
          <a:lstStyle/>
          <a:p>
            <a:pPr marL="0" lvl="0" indent="0" algn="l">
              <a:lnSpc>
                <a:spcPts val="3840"/>
              </a:lnSpc>
              <a:spcBef>
                <a:spcPct val="0"/>
              </a:spcBef>
            </a:pPr>
            <a:r>
              <a:rPr lang="en-US" sz="2400">
                <a:solidFill>
                  <a:srgbClr val="000000"/>
                </a:solidFill>
                <a:latin typeface="Open Sauce"/>
                <a:ea typeface="Open Sauce"/>
                <a:cs typeface="Open Sauce"/>
                <a:sym typeface="Open Sauce"/>
              </a:rPr>
              <a:t>Reddit is not representative of the entire American population. Around 50 million American are active on Reddit everyday (Backlinko 2025). Two-thirds of Reddit users are male, and 44% are aged 18 - 29 (Duarte 2025). Overall, Redditors are left-leaning politically (Jungherr, Posegga, and An 2021).</a:t>
            </a:r>
          </a:p>
        </p:txBody>
      </p:sp>
      <p:sp>
        <p:nvSpPr>
          <p:cNvPr id="6" name="TextBox 6"/>
          <p:cNvSpPr txBox="1"/>
          <p:nvPr/>
        </p:nvSpPr>
        <p:spPr>
          <a:xfrm>
            <a:off x="1175924" y="4032588"/>
            <a:ext cx="4833608" cy="459105"/>
          </a:xfrm>
          <a:prstGeom prst="rect">
            <a:avLst/>
          </a:prstGeom>
        </p:spPr>
        <p:txBody>
          <a:bodyPr lIns="0" tIns="0" rIns="0" bIns="0" rtlCol="0" anchor="t">
            <a:spAutoFit/>
          </a:bodyPr>
          <a:lstStyle/>
          <a:p>
            <a:pPr marL="0" lvl="0" indent="0" algn="l">
              <a:lnSpc>
                <a:spcPts val="3840"/>
              </a:lnSpc>
              <a:spcBef>
                <a:spcPct val="0"/>
              </a:spcBef>
            </a:pPr>
            <a:r>
              <a:rPr lang="en-US" sz="2400" b="1">
                <a:solidFill>
                  <a:srgbClr val="000000"/>
                </a:solidFill>
                <a:latin typeface="Open Sauce Bold"/>
                <a:ea typeface="Open Sauce Bold"/>
                <a:cs typeface="Open Sauce Bold"/>
                <a:sym typeface="Open Sauce Bold"/>
              </a:rPr>
              <a:t>r/immigration</a:t>
            </a:r>
          </a:p>
        </p:txBody>
      </p:sp>
      <p:sp>
        <p:nvSpPr>
          <p:cNvPr id="7" name="TextBox 7"/>
          <p:cNvSpPr txBox="1"/>
          <p:nvPr/>
        </p:nvSpPr>
        <p:spPr>
          <a:xfrm>
            <a:off x="1166399" y="4780594"/>
            <a:ext cx="4843133" cy="5016501"/>
          </a:xfrm>
          <a:prstGeom prst="rect">
            <a:avLst/>
          </a:prstGeom>
        </p:spPr>
        <p:txBody>
          <a:bodyPr lIns="0" tIns="0" rIns="0" bIns="0" rtlCol="0" anchor="t">
            <a:spAutoFit/>
          </a:bodyPr>
          <a:lstStyle/>
          <a:p>
            <a:pPr marL="539746" lvl="1" indent="-269873" algn="l">
              <a:lnSpc>
                <a:spcPts val="3999"/>
              </a:lnSpc>
              <a:buFont typeface="Arial"/>
              <a:buChar char="•"/>
            </a:pPr>
            <a:r>
              <a:rPr lang="en-US" sz="2499">
                <a:solidFill>
                  <a:srgbClr val="000000"/>
                </a:solidFill>
                <a:latin typeface="Open Sauce"/>
                <a:ea typeface="Open Sauce"/>
                <a:cs typeface="Open Sauce"/>
                <a:sym typeface="Open Sauce"/>
              </a:rPr>
              <a:t>224k members total</a:t>
            </a:r>
          </a:p>
          <a:p>
            <a:pPr marL="539746" lvl="1" indent="-269873" algn="l">
              <a:lnSpc>
                <a:spcPts val="3999"/>
              </a:lnSpc>
              <a:buFont typeface="Arial"/>
              <a:buChar char="•"/>
            </a:pPr>
            <a:r>
              <a:rPr lang="en-US" sz="2499">
                <a:solidFill>
                  <a:srgbClr val="000000"/>
                </a:solidFill>
                <a:latin typeface="Open Sauce"/>
                <a:ea typeface="Open Sauce"/>
                <a:cs typeface="Open Sauce"/>
                <a:sym typeface="Open Sauce"/>
              </a:rPr>
              <a:t>Users discuss immigration news, politics, visas, green cards, raids, deportations in both the US and worldwide </a:t>
            </a:r>
          </a:p>
          <a:p>
            <a:pPr marL="539746" lvl="1" indent="-269873" algn="l">
              <a:lnSpc>
                <a:spcPts val="3999"/>
              </a:lnSpc>
              <a:buFont typeface="Arial"/>
              <a:buChar char="•"/>
            </a:pPr>
            <a:r>
              <a:rPr lang="en-US" sz="2499">
                <a:solidFill>
                  <a:srgbClr val="000000"/>
                </a:solidFill>
                <a:latin typeface="Open Sauce"/>
                <a:ea typeface="Open Sauce"/>
                <a:cs typeface="Open Sauce"/>
                <a:sym typeface="Open Sauce"/>
              </a:rPr>
              <a:t>Gives us a lot of immigration-specific discourse and posts from individuals going through the immigration process</a:t>
            </a:r>
          </a:p>
        </p:txBody>
      </p:sp>
      <p:sp>
        <p:nvSpPr>
          <p:cNvPr id="8" name="TextBox 8"/>
          <p:cNvSpPr txBox="1"/>
          <p:nvPr/>
        </p:nvSpPr>
        <p:spPr>
          <a:xfrm>
            <a:off x="6741484" y="4032588"/>
            <a:ext cx="4833608" cy="459105"/>
          </a:xfrm>
          <a:prstGeom prst="rect">
            <a:avLst/>
          </a:prstGeom>
        </p:spPr>
        <p:txBody>
          <a:bodyPr lIns="0" tIns="0" rIns="0" bIns="0" rtlCol="0" anchor="t">
            <a:spAutoFit/>
          </a:bodyPr>
          <a:lstStyle/>
          <a:p>
            <a:pPr marL="0" lvl="0" indent="0" algn="l">
              <a:lnSpc>
                <a:spcPts val="3840"/>
              </a:lnSpc>
              <a:spcBef>
                <a:spcPct val="0"/>
              </a:spcBef>
            </a:pPr>
            <a:r>
              <a:rPr lang="en-US" sz="2400" b="1">
                <a:solidFill>
                  <a:srgbClr val="000000"/>
                </a:solidFill>
                <a:latin typeface="Open Sauce Bold"/>
                <a:ea typeface="Open Sauce Bold"/>
                <a:cs typeface="Open Sauce Bold"/>
                <a:sym typeface="Open Sauce Bold"/>
              </a:rPr>
              <a:t>r/politics</a:t>
            </a:r>
          </a:p>
        </p:txBody>
      </p:sp>
      <p:sp>
        <p:nvSpPr>
          <p:cNvPr id="9" name="TextBox 9"/>
          <p:cNvSpPr txBox="1"/>
          <p:nvPr/>
        </p:nvSpPr>
        <p:spPr>
          <a:xfrm>
            <a:off x="6731959" y="4780594"/>
            <a:ext cx="4843133" cy="4511676"/>
          </a:xfrm>
          <a:prstGeom prst="rect">
            <a:avLst/>
          </a:prstGeom>
        </p:spPr>
        <p:txBody>
          <a:bodyPr lIns="0" tIns="0" rIns="0" bIns="0" rtlCol="0" anchor="t">
            <a:spAutoFit/>
          </a:bodyPr>
          <a:lstStyle/>
          <a:p>
            <a:pPr marL="539746" lvl="1" indent="-269873" algn="l">
              <a:lnSpc>
                <a:spcPts val="3999"/>
              </a:lnSpc>
              <a:buFont typeface="Arial"/>
              <a:buChar char="•"/>
            </a:pPr>
            <a:r>
              <a:rPr lang="en-US" sz="2499">
                <a:solidFill>
                  <a:srgbClr val="000000"/>
                </a:solidFill>
                <a:latin typeface="Open Sauce"/>
                <a:ea typeface="Open Sauce"/>
                <a:cs typeface="Open Sauce"/>
                <a:sym typeface="Open Sauce"/>
              </a:rPr>
              <a:t>8.9 million members total</a:t>
            </a:r>
          </a:p>
          <a:p>
            <a:pPr marL="539746" lvl="1" indent="-269873" algn="l">
              <a:lnSpc>
                <a:spcPts val="3999"/>
              </a:lnSpc>
              <a:buFont typeface="Arial"/>
              <a:buChar char="•"/>
            </a:pPr>
            <a:r>
              <a:rPr lang="en-US" sz="2499">
                <a:solidFill>
                  <a:srgbClr val="000000"/>
                </a:solidFill>
                <a:latin typeface="Open Sauce"/>
                <a:ea typeface="Open Sauce"/>
                <a:cs typeface="Open Sauce"/>
                <a:sym typeface="Open Sauce"/>
              </a:rPr>
              <a:t>Users discuss US news related to politics</a:t>
            </a:r>
          </a:p>
          <a:p>
            <a:pPr marL="539746" lvl="1" indent="-269873" algn="l">
              <a:lnSpc>
                <a:spcPts val="3999"/>
              </a:lnSpc>
              <a:buFont typeface="Arial"/>
              <a:buChar char="•"/>
            </a:pPr>
            <a:r>
              <a:rPr lang="en-US" sz="2499">
                <a:solidFill>
                  <a:srgbClr val="000000"/>
                </a:solidFill>
                <a:latin typeface="Open Sauce"/>
                <a:ea typeface="Open Sauce"/>
                <a:cs typeface="Open Sauce"/>
                <a:sym typeface="Open Sauce"/>
              </a:rPr>
              <a:t>Most posts are links to news articles</a:t>
            </a:r>
          </a:p>
          <a:p>
            <a:pPr marL="539746" lvl="1" indent="-269873" algn="l">
              <a:lnSpc>
                <a:spcPts val="3999"/>
              </a:lnSpc>
              <a:buFont typeface="Arial"/>
              <a:buChar char="•"/>
            </a:pPr>
            <a:r>
              <a:rPr lang="en-US" sz="2499">
                <a:solidFill>
                  <a:srgbClr val="000000"/>
                </a:solidFill>
                <a:latin typeface="Open Sauce"/>
                <a:ea typeface="Open Sauce"/>
                <a:cs typeface="Open Sauce"/>
                <a:sym typeface="Open Sauce"/>
              </a:rPr>
              <a:t>Left-leaning bias with most users supporting Democratic policies and candidates (Godfrey 2024)</a:t>
            </a:r>
          </a:p>
        </p:txBody>
      </p:sp>
      <p:sp>
        <p:nvSpPr>
          <p:cNvPr id="10" name="TextBox 10"/>
          <p:cNvSpPr txBox="1"/>
          <p:nvPr/>
        </p:nvSpPr>
        <p:spPr>
          <a:xfrm>
            <a:off x="12278469" y="4026214"/>
            <a:ext cx="4833608" cy="459105"/>
          </a:xfrm>
          <a:prstGeom prst="rect">
            <a:avLst/>
          </a:prstGeom>
        </p:spPr>
        <p:txBody>
          <a:bodyPr lIns="0" tIns="0" rIns="0" bIns="0" rtlCol="0" anchor="t">
            <a:spAutoFit/>
          </a:bodyPr>
          <a:lstStyle/>
          <a:p>
            <a:pPr marL="0" lvl="0" indent="0" algn="l">
              <a:lnSpc>
                <a:spcPts val="3840"/>
              </a:lnSpc>
              <a:spcBef>
                <a:spcPct val="0"/>
              </a:spcBef>
            </a:pPr>
            <a:r>
              <a:rPr lang="en-US" sz="2400" b="1">
                <a:solidFill>
                  <a:srgbClr val="000000"/>
                </a:solidFill>
                <a:latin typeface="Open Sauce Bold"/>
                <a:ea typeface="Open Sauce Bold"/>
                <a:cs typeface="Open Sauce Bold"/>
                <a:sym typeface="Open Sauce Bold"/>
              </a:rPr>
              <a:t>r/politicaldiscussion</a:t>
            </a:r>
          </a:p>
        </p:txBody>
      </p:sp>
      <p:sp>
        <p:nvSpPr>
          <p:cNvPr id="11" name="TextBox 11"/>
          <p:cNvSpPr txBox="1"/>
          <p:nvPr/>
        </p:nvSpPr>
        <p:spPr>
          <a:xfrm>
            <a:off x="12278469" y="4780594"/>
            <a:ext cx="4843133" cy="4006851"/>
          </a:xfrm>
          <a:prstGeom prst="rect">
            <a:avLst/>
          </a:prstGeom>
        </p:spPr>
        <p:txBody>
          <a:bodyPr lIns="0" tIns="0" rIns="0" bIns="0" rtlCol="0" anchor="t">
            <a:spAutoFit/>
          </a:bodyPr>
          <a:lstStyle/>
          <a:p>
            <a:pPr marL="539746" lvl="1" indent="-269873" algn="l">
              <a:lnSpc>
                <a:spcPts val="3999"/>
              </a:lnSpc>
              <a:buFont typeface="Arial"/>
              <a:buChar char="•"/>
            </a:pPr>
            <a:r>
              <a:rPr lang="en-US" sz="2499">
                <a:solidFill>
                  <a:srgbClr val="000000"/>
                </a:solidFill>
                <a:latin typeface="Open Sauce"/>
                <a:ea typeface="Open Sauce"/>
                <a:cs typeface="Open Sauce"/>
                <a:sym typeface="Open Sauce"/>
              </a:rPr>
              <a:t>2.2 million members total</a:t>
            </a:r>
          </a:p>
          <a:p>
            <a:pPr marL="539746" lvl="1" indent="-269873" algn="l">
              <a:lnSpc>
                <a:spcPts val="3999"/>
              </a:lnSpc>
              <a:buFont typeface="Arial"/>
              <a:buChar char="•"/>
            </a:pPr>
            <a:r>
              <a:rPr lang="en-US" sz="2499">
                <a:solidFill>
                  <a:srgbClr val="000000"/>
                </a:solidFill>
                <a:latin typeface="Open Sauce"/>
                <a:ea typeface="Open Sauce"/>
                <a:cs typeface="Open Sauce"/>
                <a:sym typeface="Open Sauce"/>
              </a:rPr>
              <a:t>Users make substantive and civil discussion on political topics</a:t>
            </a:r>
          </a:p>
          <a:p>
            <a:pPr marL="539746" lvl="1" indent="-269873" algn="l">
              <a:lnSpc>
                <a:spcPts val="3999"/>
              </a:lnSpc>
              <a:buFont typeface="Arial"/>
              <a:buChar char="•"/>
            </a:pPr>
            <a:r>
              <a:rPr lang="en-US" sz="2499">
                <a:solidFill>
                  <a:srgbClr val="000000"/>
                </a:solidFill>
                <a:latin typeface="Open Sauce"/>
                <a:ea typeface="Open Sauce"/>
                <a:cs typeface="Open Sauce"/>
                <a:sym typeface="Open Sauce"/>
              </a:rPr>
              <a:t>Most posts are either policy and current affairs questions or strong political opinions a user might have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12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166399" y="1233825"/>
            <a:ext cx="8683727"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Collection Process</a:t>
            </a:r>
          </a:p>
        </p:txBody>
      </p:sp>
      <p:sp>
        <p:nvSpPr>
          <p:cNvPr id="5" name="TextBox 5"/>
          <p:cNvSpPr txBox="1"/>
          <p:nvPr/>
        </p:nvSpPr>
        <p:spPr>
          <a:xfrm>
            <a:off x="1028700" y="3147988"/>
            <a:ext cx="16245806" cy="4741060"/>
          </a:xfrm>
          <a:prstGeom prst="rect">
            <a:avLst/>
          </a:prstGeom>
        </p:spPr>
        <p:txBody>
          <a:bodyPr lIns="0" tIns="0" rIns="0" bIns="0" rtlCol="0" anchor="t">
            <a:spAutoFit/>
          </a:bodyPr>
          <a:lstStyle/>
          <a:p>
            <a:pPr marL="638332" lvl="1" indent="-319166" algn="l">
              <a:lnSpc>
                <a:spcPts val="4730"/>
              </a:lnSpc>
              <a:buFont typeface="Arial"/>
              <a:buChar char="•"/>
            </a:pPr>
            <a:r>
              <a:rPr lang="en-US" sz="2956">
                <a:solidFill>
                  <a:srgbClr val="000000"/>
                </a:solidFill>
                <a:latin typeface="Open Sauce"/>
                <a:ea typeface="Open Sauce"/>
                <a:cs typeface="Open Sauce"/>
                <a:sym typeface="Open Sauce"/>
              </a:rPr>
              <a:t>We collected top posts from </a:t>
            </a:r>
            <a:r>
              <a:rPr lang="en-US" sz="2956" b="1">
                <a:solidFill>
                  <a:srgbClr val="000000"/>
                </a:solidFill>
                <a:latin typeface="Open Sauce Bold"/>
                <a:ea typeface="Open Sauce Bold"/>
                <a:cs typeface="Open Sauce Bold"/>
                <a:sym typeface="Open Sauce Bold"/>
              </a:rPr>
              <a:t>January to July 2025</a:t>
            </a:r>
            <a:r>
              <a:rPr lang="en-US" sz="2956">
                <a:solidFill>
                  <a:srgbClr val="000000"/>
                </a:solidFill>
                <a:latin typeface="Open Sauce"/>
                <a:ea typeface="Open Sauce"/>
                <a:cs typeface="Open Sauce"/>
                <a:sym typeface="Open Sauce"/>
              </a:rPr>
              <a:t> from the 3 subreddits previously identified (r/immigration, r/politicaldiscussion, and r/politics).</a:t>
            </a:r>
          </a:p>
          <a:p>
            <a:pPr algn="l">
              <a:lnSpc>
                <a:spcPts val="4730"/>
              </a:lnSpc>
            </a:pPr>
            <a:endParaRPr lang="en-US" sz="2956">
              <a:solidFill>
                <a:srgbClr val="000000"/>
              </a:solidFill>
              <a:latin typeface="Open Sauce"/>
              <a:ea typeface="Open Sauce"/>
              <a:cs typeface="Open Sauce"/>
              <a:sym typeface="Open Sauce"/>
            </a:endParaRPr>
          </a:p>
          <a:p>
            <a:pPr marL="638332" lvl="1" indent="-319166" algn="l">
              <a:lnSpc>
                <a:spcPts val="4730"/>
              </a:lnSpc>
              <a:buFont typeface="Arial"/>
              <a:buChar char="•"/>
            </a:pPr>
            <a:r>
              <a:rPr lang="en-US" sz="2956">
                <a:solidFill>
                  <a:srgbClr val="000000"/>
                </a:solidFill>
                <a:latin typeface="Open Sauce"/>
                <a:ea typeface="Open Sauce"/>
                <a:cs typeface="Open Sauce"/>
                <a:sym typeface="Open Sauce"/>
              </a:rPr>
              <a:t>Our data includes </a:t>
            </a:r>
            <a:r>
              <a:rPr lang="en-US" sz="2956" b="1">
                <a:solidFill>
                  <a:srgbClr val="000000"/>
                </a:solidFill>
                <a:latin typeface="Open Sauce Bold"/>
                <a:ea typeface="Open Sauce Bold"/>
                <a:cs typeface="Open Sauce Bold"/>
                <a:sym typeface="Open Sauce Bold"/>
              </a:rPr>
              <a:t>post</a:t>
            </a:r>
            <a:r>
              <a:rPr lang="en-US" sz="2956">
                <a:solidFill>
                  <a:srgbClr val="000000"/>
                </a:solidFill>
                <a:latin typeface="Open Sauce"/>
                <a:ea typeface="Open Sauce"/>
                <a:cs typeface="Open Sauce"/>
                <a:sym typeface="Open Sauce"/>
              </a:rPr>
              <a:t> </a:t>
            </a:r>
            <a:r>
              <a:rPr lang="en-US" sz="2956" b="1">
                <a:solidFill>
                  <a:srgbClr val="000000"/>
                </a:solidFill>
                <a:latin typeface="Open Sauce Bold"/>
                <a:ea typeface="Open Sauce Bold"/>
                <a:cs typeface="Open Sauce Bold"/>
                <a:sym typeface="Open Sauce Bold"/>
              </a:rPr>
              <a:t>title</a:t>
            </a:r>
            <a:r>
              <a:rPr lang="en-US" sz="2956">
                <a:solidFill>
                  <a:srgbClr val="000000"/>
                </a:solidFill>
                <a:latin typeface="Open Sauce"/>
                <a:ea typeface="Open Sauce"/>
                <a:cs typeface="Open Sauce"/>
                <a:sym typeface="Open Sauce"/>
              </a:rPr>
              <a:t>, </a:t>
            </a:r>
            <a:r>
              <a:rPr lang="en-US" sz="2956" b="1">
                <a:solidFill>
                  <a:srgbClr val="000000"/>
                </a:solidFill>
                <a:latin typeface="Open Sauce Bold"/>
                <a:ea typeface="Open Sauce Bold"/>
                <a:cs typeface="Open Sauce Bold"/>
                <a:sym typeface="Open Sauce Bold"/>
              </a:rPr>
              <a:t>post text</a:t>
            </a:r>
            <a:r>
              <a:rPr lang="en-US" sz="2956">
                <a:solidFill>
                  <a:srgbClr val="000000"/>
                </a:solidFill>
                <a:latin typeface="Open Sauce"/>
                <a:ea typeface="Open Sauce"/>
                <a:cs typeface="Open Sauce"/>
                <a:sym typeface="Open Sauce"/>
              </a:rPr>
              <a:t>, </a:t>
            </a:r>
            <a:r>
              <a:rPr lang="en-US" sz="2956" b="1">
                <a:solidFill>
                  <a:srgbClr val="000000"/>
                </a:solidFill>
                <a:latin typeface="Open Sauce Bold"/>
                <a:ea typeface="Open Sauce Bold"/>
                <a:cs typeface="Open Sauce Bold"/>
                <a:sym typeface="Open Sauce Bold"/>
              </a:rPr>
              <a:t>3 comments</a:t>
            </a:r>
            <a:r>
              <a:rPr lang="en-US" sz="2956">
                <a:solidFill>
                  <a:srgbClr val="000000"/>
                </a:solidFill>
                <a:latin typeface="Open Sauce"/>
                <a:ea typeface="Open Sauce"/>
                <a:cs typeface="Open Sauce"/>
                <a:sym typeface="Open Sauce"/>
              </a:rPr>
              <a:t> connected to those posts, </a:t>
            </a:r>
            <a:r>
              <a:rPr lang="en-US" sz="2956" b="1">
                <a:solidFill>
                  <a:srgbClr val="000000"/>
                </a:solidFill>
                <a:latin typeface="Open Sauce Bold"/>
                <a:ea typeface="Open Sauce Bold"/>
                <a:cs typeface="Open Sauce Bold"/>
                <a:sym typeface="Open Sauce Bold"/>
              </a:rPr>
              <a:t>date</a:t>
            </a:r>
            <a:r>
              <a:rPr lang="en-US" sz="2956">
                <a:solidFill>
                  <a:srgbClr val="000000"/>
                </a:solidFill>
                <a:latin typeface="Open Sauce"/>
                <a:ea typeface="Open Sauce"/>
                <a:cs typeface="Open Sauce"/>
                <a:sym typeface="Open Sauce"/>
              </a:rPr>
              <a:t> of post creation, and </a:t>
            </a:r>
            <a:r>
              <a:rPr lang="en-US" sz="2956" b="1">
                <a:solidFill>
                  <a:srgbClr val="000000"/>
                </a:solidFill>
                <a:latin typeface="Open Sauce Bold"/>
                <a:ea typeface="Open Sauce Bold"/>
                <a:cs typeface="Open Sauce Bold"/>
                <a:sym typeface="Open Sauce Bold"/>
              </a:rPr>
              <a:t>upvotes</a:t>
            </a:r>
            <a:r>
              <a:rPr lang="en-US" sz="2956">
                <a:solidFill>
                  <a:srgbClr val="000000"/>
                </a:solidFill>
                <a:latin typeface="Open Sauce"/>
                <a:ea typeface="Open Sauce"/>
                <a:cs typeface="Open Sauce"/>
                <a:sym typeface="Open Sauce"/>
              </a:rPr>
              <a:t> for the post and comments.</a:t>
            </a:r>
          </a:p>
          <a:p>
            <a:pPr algn="l">
              <a:lnSpc>
                <a:spcPts val="4730"/>
              </a:lnSpc>
            </a:pPr>
            <a:endParaRPr lang="en-US" sz="2956">
              <a:solidFill>
                <a:srgbClr val="000000"/>
              </a:solidFill>
              <a:latin typeface="Open Sauce"/>
              <a:ea typeface="Open Sauce"/>
              <a:cs typeface="Open Sauce"/>
              <a:sym typeface="Open Sauce"/>
            </a:endParaRPr>
          </a:p>
          <a:p>
            <a:pPr marL="638332" lvl="1" indent="-319166" algn="l">
              <a:lnSpc>
                <a:spcPts val="4730"/>
              </a:lnSpc>
              <a:buFont typeface="Arial"/>
              <a:buChar char="•"/>
            </a:pPr>
            <a:r>
              <a:rPr lang="en-US" sz="2956">
                <a:solidFill>
                  <a:srgbClr val="000000"/>
                </a:solidFill>
                <a:latin typeface="Open Sauce"/>
                <a:ea typeface="Open Sauce"/>
                <a:cs typeface="Open Sauce"/>
                <a:sym typeface="Open Sauce"/>
              </a:rPr>
              <a:t>We used the official </a:t>
            </a:r>
            <a:r>
              <a:rPr lang="en-US" sz="2956" b="1">
                <a:solidFill>
                  <a:srgbClr val="000000"/>
                </a:solidFill>
                <a:latin typeface="Open Sauce Bold"/>
                <a:ea typeface="Open Sauce Bold"/>
                <a:cs typeface="Open Sauce Bold"/>
                <a:sym typeface="Open Sauce Bold"/>
              </a:rPr>
              <a:t>Reddit API</a:t>
            </a:r>
            <a:r>
              <a:rPr lang="en-US" sz="2956">
                <a:solidFill>
                  <a:srgbClr val="000000"/>
                </a:solidFill>
                <a:latin typeface="Open Sauce"/>
                <a:ea typeface="Open Sauce"/>
                <a:cs typeface="Open Sauce"/>
                <a:sym typeface="Open Sauce"/>
              </a:rPr>
              <a:t> access available for developers to collect the data. Reddit limits how much data you can download at a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166399" y="1233825"/>
            <a:ext cx="14042364"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Example Post (r/politicaldiscussion)</a:t>
            </a:r>
          </a:p>
        </p:txBody>
      </p:sp>
      <p:sp>
        <p:nvSpPr>
          <p:cNvPr id="5" name="TextBox 5"/>
          <p:cNvSpPr txBox="1"/>
          <p:nvPr/>
        </p:nvSpPr>
        <p:spPr>
          <a:xfrm>
            <a:off x="1166399" y="2659986"/>
            <a:ext cx="15385249" cy="7440307"/>
          </a:xfrm>
          <a:prstGeom prst="rect">
            <a:avLst/>
          </a:prstGeom>
        </p:spPr>
        <p:txBody>
          <a:bodyPr lIns="0" tIns="0" rIns="0" bIns="0" rtlCol="0" anchor="t">
            <a:spAutoFit/>
          </a:bodyPr>
          <a:lstStyle/>
          <a:p>
            <a:pPr marL="604519" lvl="1" indent="-302260" algn="l">
              <a:lnSpc>
                <a:spcPts val="4479"/>
              </a:lnSpc>
              <a:buFont typeface="Arial"/>
              <a:buChar char="•"/>
            </a:pPr>
            <a:r>
              <a:rPr lang="en-US" sz="2799" u="sng" dirty="0">
                <a:solidFill>
                  <a:srgbClr val="000000"/>
                </a:solidFill>
                <a:latin typeface="Open Sauce"/>
                <a:ea typeface="Open Sauce"/>
                <a:cs typeface="Open Sauce"/>
                <a:sym typeface="Open Sauce"/>
              </a:rPr>
              <a:t>LINK</a:t>
            </a:r>
            <a:r>
              <a:rPr lang="en-US" sz="2799" dirty="0">
                <a:solidFill>
                  <a:srgbClr val="000000"/>
                </a:solidFill>
                <a:latin typeface="Open Sauce"/>
                <a:ea typeface="Open Sauce"/>
                <a:cs typeface="Open Sauce"/>
                <a:sym typeface="Open Sauce"/>
              </a:rPr>
              <a:t>: https://www.reddit.com/r/PoliticalDiscussion/comments/1ljxdat/why_does_enforcement_of_immigration_policy_result/</a:t>
            </a:r>
          </a:p>
          <a:p>
            <a:pPr algn="l">
              <a:lnSpc>
                <a:spcPts val="4479"/>
              </a:lnSpc>
            </a:pPr>
            <a:endParaRPr lang="en-US" sz="2799" dirty="0">
              <a:solidFill>
                <a:srgbClr val="000000"/>
              </a:solidFill>
              <a:latin typeface="Open Sauce"/>
              <a:ea typeface="Open Sauce"/>
              <a:cs typeface="Open Sauce"/>
              <a:sym typeface="Open Sauce"/>
            </a:endParaRPr>
          </a:p>
          <a:p>
            <a:pPr marL="604519" lvl="1" indent="-302260" algn="l">
              <a:lnSpc>
                <a:spcPts val="4479"/>
              </a:lnSpc>
              <a:buFont typeface="Arial"/>
              <a:buChar char="•"/>
            </a:pPr>
            <a:r>
              <a:rPr lang="en-US" sz="2799" u="sng" dirty="0">
                <a:solidFill>
                  <a:srgbClr val="000000"/>
                </a:solidFill>
                <a:latin typeface="Open Sauce"/>
                <a:ea typeface="Open Sauce"/>
                <a:cs typeface="Open Sauce"/>
                <a:sym typeface="Open Sauce"/>
              </a:rPr>
              <a:t>POST TITLE</a:t>
            </a:r>
            <a:r>
              <a:rPr lang="en-US" sz="2799" dirty="0">
                <a:solidFill>
                  <a:srgbClr val="000000"/>
                </a:solidFill>
                <a:latin typeface="Open Sauce"/>
                <a:ea typeface="Open Sauce"/>
                <a:cs typeface="Open Sauce"/>
                <a:sym typeface="Open Sauce"/>
              </a:rPr>
              <a:t>: “Why does enforcement of immigration policy result in rioting instead of examination of the actual policy?”</a:t>
            </a:r>
          </a:p>
          <a:p>
            <a:pPr marL="1209039" lvl="2" indent="-403013" algn="l">
              <a:lnSpc>
                <a:spcPts val="4479"/>
              </a:lnSpc>
              <a:buFont typeface="Arial"/>
              <a:buChar char="⚬"/>
            </a:pPr>
            <a:r>
              <a:rPr lang="en-US" sz="2799" u="sng" dirty="0">
                <a:solidFill>
                  <a:srgbClr val="000000"/>
                </a:solidFill>
                <a:latin typeface="Open Sauce"/>
                <a:ea typeface="Open Sauce"/>
                <a:cs typeface="Open Sauce"/>
                <a:sym typeface="Open Sauce"/>
              </a:rPr>
              <a:t>POST DATE</a:t>
            </a:r>
            <a:r>
              <a:rPr lang="en-US" sz="2799" dirty="0">
                <a:solidFill>
                  <a:srgbClr val="000000"/>
                </a:solidFill>
                <a:latin typeface="Open Sauce"/>
                <a:ea typeface="Open Sauce"/>
                <a:cs typeface="Open Sauce"/>
                <a:sym typeface="Open Sauce"/>
              </a:rPr>
              <a:t>: June 25, 2025</a:t>
            </a:r>
          </a:p>
          <a:p>
            <a:pPr algn="l">
              <a:lnSpc>
                <a:spcPts val="4479"/>
              </a:lnSpc>
            </a:pPr>
            <a:endParaRPr lang="en-US" sz="2799" dirty="0">
              <a:solidFill>
                <a:srgbClr val="000000"/>
              </a:solidFill>
              <a:latin typeface="Open Sauce"/>
              <a:ea typeface="Open Sauce"/>
              <a:cs typeface="Open Sauce"/>
              <a:sym typeface="Open Sauce"/>
            </a:endParaRPr>
          </a:p>
          <a:p>
            <a:pPr marL="604519" lvl="1" indent="-302260" algn="l">
              <a:lnSpc>
                <a:spcPts val="4479"/>
              </a:lnSpc>
              <a:buFont typeface="Arial"/>
              <a:buChar char="•"/>
            </a:pPr>
            <a:r>
              <a:rPr lang="en-US" sz="2799" u="sng" dirty="0">
                <a:solidFill>
                  <a:srgbClr val="000000"/>
                </a:solidFill>
                <a:latin typeface="Open Sauce"/>
                <a:ea typeface="Open Sauce"/>
                <a:cs typeface="Open Sauce"/>
                <a:sym typeface="Open Sauce"/>
              </a:rPr>
              <a:t>POST TEXT</a:t>
            </a:r>
            <a:r>
              <a:rPr lang="en-US" sz="2799" dirty="0">
                <a:solidFill>
                  <a:srgbClr val="000000"/>
                </a:solidFill>
                <a:latin typeface="Open Sauce"/>
                <a:ea typeface="Open Sauce"/>
                <a:cs typeface="Open Sauce"/>
                <a:sym typeface="Open Sauce"/>
              </a:rPr>
              <a:t>: “Why object to ICE enforcing the law (policy) instead of objecting to the law (policy) itself? ICE officers are doing their job (which is: enforcing the law). If the policy) law is wrong, Congress should change it. ICE officers are required to enforce the law. Protesting is a Constitutionally protected activity, but rioting is not. Rioting is a crime, and rioting is not an appropriate response to law enforcement activity.”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166399" y="1233825"/>
            <a:ext cx="14042364"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Example Post (r/politicaldiscussion)</a:t>
            </a:r>
          </a:p>
        </p:txBody>
      </p:sp>
      <p:sp>
        <p:nvSpPr>
          <p:cNvPr id="5" name="TextBox 5"/>
          <p:cNvSpPr txBox="1"/>
          <p:nvPr/>
        </p:nvSpPr>
        <p:spPr>
          <a:xfrm>
            <a:off x="1166399" y="2659986"/>
            <a:ext cx="15385249" cy="5709063"/>
          </a:xfrm>
          <a:prstGeom prst="rect">
            <a:avLst/>
          </a:prstGeom>
        </p:spPr>
        <p:txBody>
          <a:bodyPr lIns="0" tIns="0" rIns="0" bIns="0" rtlCol="0" anchor="t">
            <a:spAutoFit/>
          </a:bodyPr>
          <a:lstStyle/>
          <a:p>
            <a:pPr marL="604519" lvl="1" indent="-302260" algn="l">
              <a:lnSpc>
                <a:spcPts val="4479"/>
              </a:lnSpc>
              <a:buFont typeface="Arial"/>
              <a:buChar char="•"/>
            </a:pPr>
            <a:r>
              <a:rPr lang="en-US" sz="2799" u="sng" dirty="0">
                <a:solidFill>
                  <a:srgbClr val="000000"/>
                </a:solidFill>
                <a:latin typeface="Open Sauce"/>
                <a:ea typeface="Open Sauce"/>
                <a:cs typeface="Open Sauce"/>
                <a:sym typeface="Open Sauce"/>
              </a:rPr>
              <a:t>COMMENT 1</a:t>
            </a:r>
            <a:r>
              <a:rPr lang="en-US" sz="2799" dirty="0">
                <a:solidFill>
                  <a:srgbClr val="000000"/>
                </a:solidFill>
                <a:latin typeface="Open Sauce"/>
                <a:ea typeface="Open Sauce"/>
                <a:cs typeface="Open Sauce"/>
                <a:sym typeface="Open Sauce"/>
              </a:rPr>
              <a:t>: “The "law" gives judges the power to make rulings and law enforcement is legally bound to abide by those rulings. If a judge makes a court order the barres someone from being removed from the country, it's a violation of the law to deport him anyway. The deportation of Garcia was an illegal act and not just people doing their job. The law doesn't give ICE the power to arbitrarily overrule judges.”</a:t>
            </a:r>
          </a:p>
          <a:p>
            <a:pPr algn="l">
              <a:lnSpc>
                <a:spcPts val="4479"/>
              </a:lnSpc>
            </a:pPr>
            <a:endParaRPr lang="en-US" sz="2799" dirty="0">
              <a:solidFill>
                <a:srgbClr val="000000"/>
              </a:solidFill>
              <a:latin typeface="Open Sauce"/>
              <a:ea typeface="Open Sauce"/>
              <a:cs typeface="Open Sauce"/>
              <a:sym typeface="Open Sauce"/>
            </a:endParaRPr>
          </a:p>
          <a:p>
            <a:pPr marL="604519" lvl="1" indent="-302260" algn="l">
              <a:lnSpc>
                <a:spcPts val="4479"/>
              </a:lnSpc>
              <a:buFont typeface="Arial"/>
              <a:buChar char="•"/>
            </a:pPr>
            <a:r>
              <a:rPr lang="en-US" sz="2799" u="sng" dirty="0">
                <a:solidFill>
                  <a:srgbClr val="000000"/>
                </a:solidFill>
                <a:latin typeface="Open Sauce"/>
                <a:ea typeface="Open Sauce"/>
                <a:cs typeface="Open Sauce"/>
                <a:sym typeface="Open Sauce"/>
              </a:rPr>
              <a:t>COMMENT 2</a:t>
            </a:r>
            <a:r>
              <a:rPr lang="en-US" sz="2799" dirty="0">
                <a:solidFill>
                  <a:srgbClr val="000000"/>
                </a:solidFill>
                <a:latin typeface="Open Sauce"/>
                <a:ea typeface="Open Sauce"/>
                <a:cs typeface="Open Sauce"/>
                <a:sym typeface="Open Sauce"/>
              </a:rPr>
              <a:t>: “It's hard to believe your question is in good faith when your premise is that there is somehow widespread rioting. The fact is that the vast, vast majority of pushback has been peaceful protests and it has been law enforcement that has escalated the situation.”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166399" y="1233825"/>
            <a:ext cx="14042364"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Example Post (r/politicaldiscussion)</a:t>
            </a:r>
          </a:p>
        </p:txBody>
      </p:sp>
      <p:sp>
        <p:nvSpPr>
          <p:cNvPr id="5" name="TextBox 5"/>
          <p:cNvSpPr txBox="1"/>
          <p:nvPr/>
        </p:nvSpPr>
        <p:spPr>
          <a:xfrm>
            <a:off x="1166399" y="2659986"/>
            <a:ext cx="15385249" cy="6863225"/>
          </a:xfrm>
          <a:prstGeom prst="rect">
            <a:avLst/>
          </a:prstGeom>
        </p:spPr>
        <p:txBody>
          <a:bodyPr lIns="0" tIns="0" rIns="0" bIns="0" rtlCol="0" anchor="t">
            <a:spAutoFit/>
          </a:bodyPr>
          <a:lstStyle/>
          <a:p>
            <a:pPr marL="604519" lvl="1" indent="-302260" algn="l">
              <a:lnSpc>
                <a:spcPts val="4479"/>
              </a:lnSpc>
              <a:buFont typeface="Arial"/>
              <a:buChar char="•"/>
            </a:pPr>
            <a:r>
              <a:rPr lang="en-US" sz="2799" u="sng" dirty="0">
                <a:solidFill>
                  <a:srgbClr val="000000"/>
                </a:solidFill>
                <a:latin typeface="Open Sauce"/>
                <a:ea typeface="Open Sauce"/>
                <a:cs typeface="Open Sauce"/>
                <a:sym typeface="Open Sauce"/>
              </a:rPr>
              <a:t>COMMENT 3</a:t>
            </a:r>
            <a:r>
              <a:rPr lang="en-US" sz="2799" dirty="0">
                <a:solidFill>
                  <a:srgbClr val="000000"/>
                </a:solidFill>
                <a:latin typeface="Open Sauce"/>
                <a:ea typeface="Open Sauce"/>
                <a:cs typeface="Open Sauce"/>
                <a:sym typeface="Open Sauce"/>
              </a:rPr>
              <a:t>: “I think it's important to be precise with our language here. Calling these events riots is misleading, as the reality is that they are overwhelmingly peaceful protests. Focusing only on a few isolated incidents of conflict, which is a common media narrative, distorts the much larger picture of why people are demonstrating in the first place. And that bigger picture often comes down to the policy's implementation. A law on paper is one thing, but how it's enforced is just as important. When the public sees enforcement that involves overwhelming force, tactics that treat people as a monolithic group of criminals, or even raids that target schools and silence dissent, the policy loses its legitimacy. That deep sense of injustice, not an opposition to law itself, is what truly fuels such a strong public response. A particularly horrifying example of this injustice happens inside the courtrooms themselves......”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166399" y="428942"/>
            <a:ext cx="13553438"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Pre-Processing</a:t>
            </a:r>
          </a:p>
        </p:txBody>
      </p:sp>
      <p:sp>
        <p:nvSpPr>
          <p:cNvPr id="4" name="TextBox 4"/>
          <p:cNvSpPr txBox="1"/>
          <p:nvPr/>
        </p:nvSpPr>
        <p:spPr>
          <a:xfrm>
            <a:off x="1166399" y="1603375"/>
            <a:ext cx="16727780" cy="8749665"/>
          </a:xfrm>
          <a:prstGeom prst="rect">
            <a:avLst/>
          </a:prstGeom>
        </p:spPr>
        <p:txBody>
          <a:bodyPr lIns="0" tIns="0" rIns="0" bIns="0" rtlCol="0" anchor="t">
            <a:spAutoFit/>
          </a:bodyPr>
          <a:lstStyle/>
          <a:p>
            <a:pPr marL="755649" lvl="1" indent="-377824" algn="l">
              <a:lnSpc>
                <a:spcPts val="5354"/>
              </a:lnSpc>
              <a:buFont typeface="Arial"/>
              <a:buChar char="•"/>
            </a:pPr>
            <a:r>
              <a:rPr lang="en-US" sz="3499">
                <a:solidFill>
                  <a:srgbClr val="000000"/>
                </a:solidFill>
                <a:latin typeface="Canva Sans"/>
                <a:ea typeface="Canva Sans"/>
                <a:cs typeface="Canva Sans"/>
                <a:sym typeface="Canva Sans"/>
              </a:rPr>
              <a:t>Type check &amp; convert input to string</a:t>
            </a:r>
          </a:p>
          <a:p>
            <a:pPr marL="755649" lvl="1" indent="-377824" algn="l">
              <a:lnSpc>
                <a:spcPts val="5354"/>
              </a:lnSpc>
              <a:buFont typeface="Arial"/>
              <a:buChar char="•"/>
            </a:pPr>
            <a:r>
              <a:rPr lang="en-US" sz="3499">
                <a:solidFill>
                  <a:srgbClr val="000000"/>
                </a:solidFill>
                <a:latin typeface="Canva Sans"/>
                <a:ea typeface="Canva Sans"/>
                <a:cs typeface="Canva Sans"/>
                <a:sym typeface="Canva Sans"/>
              </a:rPr>
              <a:t>Remove diacritics/normalize accents</a:t>
            </a:r>
          </a:p>
          <a:p>
            <a:pPr marL="755649" lvl="1" indent="-377824" algn="l">
              <a:lnSpc>
                <a:spcPts val="5354"/>
              </a:lnSpc>
              <a:buFont typeface="Arial"/>
              <a:buChar char="•"/>
            </a:pPr>
            <a:r>
              <a:rPr lang="en-US" sz="3499">
                <a:solidFill>
                  <a:srgbClr val="000000"/>
                </a:solidFill>
                <a:latin typeface="Canva Sans"/>
                <a:ea typeface="Canva Sans"/>
                <a:cs typeface="Canva Sans"/>
                <a:sym typeface="Canva Sans"/>
              </a:rPr>
              <a:t>Lowercasing</a:t>
            </a:r>
          </a:p>
          <a:p>
            <a:pPr marL="755649" lvl="1" indent="-377824" algn="l">
              <a:lnSpc>
                <a:spcPts val="5354"/>
              </a:lnSpc>
              <a:buFont typeface="Arial"/>
              <a:buChar char="•"/>
            </a:pPr>
            <a:r>
              <a:rPr lang="en-US" sz="3499">
                <a:solidFill>
                  <a:srgbClr val="000000"/>
                </a:solidFill>
                <a:latin typeface="Canva Sans"/>
                <a:ea typeface="Canva Sans"/>
                <a:cs typeface="Canva Sans"/>
                <a:sym typeface="Canva Sans"/>
              </a:rPr>
              <a:t>Remove URLs, user mentions, subreddit mentions (via regex)</a:t>
            </a:r>
          </a:p>
          <a:p>
            <a:pPr marL="755649" lvl="1" indent="-377824" algn="l">
              <a:lnSpc>
                <a:spcPts val="5354"/>
              </a:lnSpc>
              <a:buFont typeface="Arial"/>
              <a:buChar char="•"/>
            </a:pPr>
            <a:r>
              <a:rPr lang="en-US" sz="3499">
                <a:solidFill>
                  <a:srgbClr val="000000"/>
                </a:solidFill>
                <a:latin typeface="Canva Sans"/>
                <a:ea typeface="Canva Sans"/>
                <a:cs typeface="Canva Sans"/>
                <a:sym typeface="Canva Sans"/>
              </a:rPr>
              <a:t>Remove/replace emojis</a:t>
            </a:r>
          </a:p>
          <a:p>
            <a:pPr marL="755649" lvl="1" indent="-377824" algn="l">
              <a:lnSpc>
                <a:spcPts val="5354"/>
              </a:lnSpc>
              <a:buFont typeface="Arial"/>
              <a:buChar char="•"/>
            </a:pPr>
            <a:r>
              <a:rPr lang="en-US" sz="3499">
                <a:solidFill>
                  <a:srgbClr val="000000"/>
                </a:solidFill>
                <a:latin typeface="Canva Sans"/>
                <a:ea typeface="Canva Sans"/>
                <a:cs typeface="Canva Sans"/>
                <a:sym typeface="Canva Sans"/>
              </a:rPr>
              <a:t>Replace HTML escape entities (&amp;, &lt;, etc.)</a:t>
            </a:r>
          </a:p>
          <a:p>
            <a:pPr marL="755649" lvl="1" indent="-377824" algn="l">
              <a:lnSpc>
                <a:spcPts val="5354"/>
              </a:lnSpc>
              <a:buFont typeface="Arial"/>
              <a:buChar char="•"/>
            </a:pPr>
            <a:r>
              <a:rPr lang="en-US" sz="3499">
                <a:solidFill>
                  <a:srgbClr val="000000"/>
                </a:solidFill>
                <a:latin typeface="Canva Sans"/>
                <a:ea typeface="Canva Sans"/>
                <a:cs typeface="Canva Sans"/>
                <a:sym typeface="Canva Sans"/>
              </a:rPr>
              <a:t>Remove any remaining URLs</a:t>
            </a:r>
          </a:p>
          <a:p>
            <a:pPr marL="755649" lvl="1" indent="-377824" algn="l">
              <a:lnSpc>
                <a:spcPts val="5354"/>
              </a:lnSpc>
              <a:buFont typeface="Arial"/>
              <a:buChar char="•"/>
            </a:pPr>
            <a:r>
              <a:rPr lang="en-US" sz="3499">
                <a:solidFill>
                  <a:srgbClr val="000000"/>
                </a:solidFill>
                <a:latin typeface="Canva Sans"/>
                <a:ea typeface="Canva Sans"/>
                <a:cs typeface="Canva Sans"/>
                <a:sym typeface="Canva Sans"/>
              </a:rPr>
              <a:t>Remove punctuation</a:t>
            </a:r>
          </a:p>
          <a:p>
            <a:pPr marL="755649" lvl="1" indent="-377824" algn="l">
              <a:lnSpc>
                <a:spcPts val="5354"/>
              </a:lnSpc>
              <a:buFont typeface="Arial"/>
              <a:buChar char="•"/>
            </a:pPr>
            <a:r>
              <a:rPr lang="en-US" sz="3499">
                <a:solidFill>
                  <a:srgbClr val="000000"/>
                </a:solidFill>
                <a:latin typeface="Canva Sans"/>
                <a:ea typeface="Canva Sans"/>
                <a:cs typeface="Canva Sans"/>
                <a:sym typeface="Canva Sans"/>
              </a:rPr>
              <a:t>Collapse multiple spaces</a:t>
            </a:r>
          </a:p>
          <a:p>
            <a:pPr marL="755649" lvl="1" indent="-377824" algn="l">
              <a:lnSpc>
                <a:spcPts val="5354"/>
              </a:lnSpc>
              <a:buFont typeface="Arial"/>
              <a:buChar char="•"/>
            </a:pPr>
            <a:r>
              <a:rPr lang="en-US" sz="3499">
                <a:solidFill>
                  <a:srgbClr val="000000"/>
                </a:solidFill>
                <a:latin typeface="Canva Sans"/>
                <a:ea typeface="Canva Sans"/>
                <a:cs typeface="Canva Sans"/>
                <a:sym typeface="Canva Sans"/>
              </a:rPr>
              <a:t>Normalize hyphenated tokens (e.g., j-1 → j1)</a:t>
            </a:r>
          </a:p>
          <a:p>
            <a:pPr marL="755649" lvl="1" indent="-377824" algn="l">
              <a:lnSpc>
                <a:spcPts val="5354"/>
              </a:lnSpc>
              <a:buFont typeface="Arial"/>
              <a:buChar char="•"/>
            </a:pPr>
            <a:r>
              <a:rPr lang="en-US" sz="3499">
                <a:solidFill>
                  <a:srgbClr val="000000"/>
                </a:solidFill>
                <a:latin typeface="Canva Sans"/>
                <a:ea typeface="Canva Sans"/>
                <a:cs typeface="Canva Sans"/>
                <a:sym typeface="Canva Sans"/>
              </a:rPr>
              <a:t>Remove control characters (newline, tab, carriage return)</a:t>
            </a:r>
          </a:p>
          <a:p>
            <a:pPr marL="755649" lvl="1" indent="-377824" algn="l">
              <a:lnSpc>
                <a:spcPts val="5354"/>
              </a:lnSpc>
              <a:buFont typeface="Arial"/>
              <a:buChar char="•"/>
            </a:pPr>
            <a:r>
              <a:rPr lang="en-US" sz="3499">
                <a:solidFill>
                  <a:srgbClr val="000000"/>
                </a:solidFill>
                <a:latin typeface="Canva Sans"/>
                <a:ea typeface="Canva Sans"/>
                <a:cs typeface="Canva Sans"/>
                <a:sym typeface="Canva Sans"/>
              </a:rPr>
              <a:t>Final whitespace cleanup</a:t>
            </a:r>
          </a:p>
          <a:p>
            <a:pPr algn="l">
              <a:lnSpc>
                <a:spcPts val="5354"/>
              </a:lnSpc>
            </a:pPr>
            <a:endParaRPr lang="en-US" sz="3499">
              <a:solidFill>
                <a:srgbClr val="000000"/>
              </a:solidFill>
              <a:latin typeface="Canva Sans"/>
              <a:ea typeface="Canva Sans"/>
              <a:cs typeface="Canva Sans"/>
              <a:sym typeface="Canv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166399" y="1233825"/>
            <a:ext cx="13553438"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Natural Language Processing (NLP)</a:t>
            </a:r>
          </a:p>
        </p:txBody>
      </p:sp>
      <p:sp>
        <p:nvSpPr>
          <p:cNvPr id="5" name="TextBox 5"/>
          <p:cNvSpPr txBox="1"/>
          <p:nvPr/>
        </p:nvSpPr>
        <p:spPr>
          <a:xfrm>
            <a:off x="1166399" y="2490490"/>
            <a:ext cx="15385249" cy="6715760"/>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00000"/>
                </a:solidFill>
                <a:latin typeface="Open Sauce"/>
                <a:ea typeface="Open Sauce"/>
                <a:cs typeface="Open Sauce"/>
                <a:sym typeface="Open Sauce"/>
              </a:rPr>
              <a:t>We ran NLP on all texts (both posts and comments)</a:t>
            </a:r>
          </a:p>
          <a:p>
            <a:pPr marL="1209039" lvl="2" indent="-403013" algn="l">
              <a:lnSpc>
                <a:spcPts val="4479"/>
              </a:lnSpc>
              <a:buFont typeface="Arial"/>
              <a:buChar char="⚬"/>
            </a:pPr>
            <a:r>
              <a:rPr lang="en-US" sz="2799" b="1">
                <a:solidFill>
                  <a:srgbClr val="000000"/>
                </a:solidFill>
                <a:latin typeface="Open Sauce Bold"/>
                <a:ea typeface="Open Sauce Bold"/>
                <a:cs typeface="Open Sauce Bold"/>
                <a:sym typeface="Open Sauce Bold"/>
              </a:rPr>
              <a:t>Sentiment analysis</a:t>
            </a:r>
            <a:r>
              <a:rPr lang="en-US" sz="2799">
                <a:solidFill>
                  <a:srgbClr val="000000"/>
                </a:solidFill>
                <a:latin typeface="Open Sauce"/>
                <a:ea typeface="Open Sauce"/>
                <a:cs typeface="Open Sauce"/>
                <a:sym typeface="Open Sauce"/>
              </a:rPr>
              <a:t>: Emotional tone/attitude</a:t>
            </a:r>
          </a:p>
          <a:p>
            <a:pPr algn="l">
              <a:lnSpc>
                <a:spcPts val="4479"/>
              </a:lnSpc>
            </a:pPr>
            <a:endParaRPr lang="en-US" sz="2799">
              <a:solidFill>
                <a:srgbClr val="000000"/>
              </a:solidFill>
              <a:latin typeface="Open Sauce"/>
              <a:ea typeface="Open Sauce"/>
              <a:cs typeface="Open Sauce"/>
              <a:sym typeface="Open Sauce"/>
            </a:endParaRPr>
          </a:p>
          <a:p>
            <a:pPr marL="1209039" lvl="2" indent="-403013" algn="l">
              <a:lnSpc>
                <a:spcPts val="4479"/>
              </a:lnSpc>
              <a:buFont typeface="Arial"/>
              <a:buChar char="⚬"/>
            </a:pPr>
            <a:r>
              <a:rPr lang="en-US" sz="2799" b="1">
                <a:solidFill>
                  <a:srgbClr val="000000"/>
                </a:solidFill>
                <a:latin typeface="Open Sauce Bold"/>
                <a:ea typeface="Open Sauce Bold"/>
                <a:cs typeface="Open Sauce Bold"/>
                <a:sym typeface="Open Sauce Bold"/>
              </a:rPr>
              <a:t>Stance analysis</a:t>
            </a:r>
            <a:r>
              <a:rPr lang="en-US" sz="2799">
                <a:solidFill>
                  <a:srgbClr val="000000"/>
                </a:solidFill>
                <a:latin typeface="Open Sauce"/>
                <a:ea typeface="Open Sauce"/>
                <a:cs typeface="Open Sauce"/>
                <a:sym typeface="Open Sauce"/>
              </a:rPr>
              <a:t>: Pro-migration and anti-migration terms </a:t>
            </a:r>
          </a:p>
          <a:p>
            <a:pPr algn="l">
              <a:lnSpc>
                <a:spcPts val="4479"/>
              </a:lnSpc>
            </a:pPr>
            <a:endParaRPr lang="en-US" sz="2799">
              <a:solidFill>
                <a:srgbClr val="000000"/>
              </a:solidFill>
              <a:latin typeface="Open Sauce"/>
              <a:ea typeface="Open Sauce"/>
              <a:cs typeface="Open Sauce"/>
              <a:sym typeface="Open Sauce"/>
            </a:endParaRPr>
          </a:p>
          <a:p>
            <a:pPr marL="1209039" lvl="2" indent="-403013" algn="l">
              <a:lnSpc>
                <a:spcPts val="4479"/>
              </a:lnSpc>
              <a:buFont typeface="Arial"/>
              <a:buChar char="⚬"/>
            </a:pPr>
            <a:r>
              <a:rPr lang="en-US" sz="2799" b="1">
                <a:solidFill>
                  <a:srgbClr val="000000"/>
                </a:solidFill>
                <a:latin typeface="Open Sauce Bold"/>
                <a:ea typeface="Open Sauce Bold"/>
                <a:cs typeface="Open Sauce Bold"/>
                <a:sym typeface="Open Sauce Bold"/>
              </a:rPr>
              <a:t>Framing analysis</a:t>
            </a:r>
            <a:r>
              <a:rPr lang="en-US" sz="2799">
                <a:solidFill>
                  <a:srgbClr val="000000"/>
                </a:solidFill>
                <a:latin typeface="Open Sauce"/>
                <a:ea typeface="Open Sauce"/>
                <a:cs typeface="Open Sauce"/>
                <a:sym typeface="Open Sauce"/>
              </a:rPr>
              <a:t>: 8 frames on content in immigration discourse</a:t>
            </a:r>
          </a:p>
          <a:p>
            <a:pPr algn="l">
              <a:lnSpc>
                <a:spcPts val="4479"/>
              </a:lnSpc>
            </a:pPr>
            <a:endParaRPr lang="en-US" sz="2799">
              <a:solidFill>
                <a:srgbClr val="000000"/>
              </a:solidFill>
              <a:latin typeface="Open Sauce"/>
              <a:ea typeface="Open Sauce"/>
              <a:cs typeface="Open Sauce"/>
              <a:sym typeface="Open Sauce"/>
            </a:endParaRPr>
          </a:p>
          <a:p>
            <a:pPr marL="1209039" lvl="2" indent="-403013" algn="l">
              <a:lnSpc>
                <a:spcPts val="4479"/>
              </a:lnSpc>
              <a:buFont typeface="Arial"/>
              <a:buChar char="⚬"/>
            </a:pPr>
            <a:r>
              <a:rPr lang="en-US" sz="2799" b="1">
                <a:solidFill>
                  <a:srgbClr val="000000"/>
                </a:solidFill>
                <a:latin typeface="Open Sauce Bold"/>
                <a:ea typeface="Open Sauce Bold"/>
                <a:cs typeface="Open Sauce Bold"/>
                <a:sym typeface="Open Sauce Bold"/>
              </a:rPr>
              <a:t>Latent Dirichlet Allocation (LDA)</a:t>
            </a:r>
            <a:r>
              <a:rPr lang="en-US" sz="2799">
                <a:solidFill>
                  <a:srgbClr val="000000"/>
                </a:solidFill>
                <a:latin typeface="Open Sauce"/>
                <a:ea typeface="Open Sauce"/>
                <a:cs typeface="Open Sauce"/>
                <a:sym typeface="Open Sauce"/>
              </a:rPr>
              <a:t>: Generative probabilistic topic model</a:t>
            </a:r>
          </a:p>
          <a:p>
            <a:pPr algn="l">
              <a:lnSpc>
                <a:spcPts val="4479"/>
              </a:lnSpc>
            </a:pPr>
            <a:endParaRPr lang="en-US" sz="2799">
              <a:solidFill>
                <a:srgbClr val="000000"/>
              </a:solidFill>
              <a:latin typeface="Open Sauce"/>
              <a:ea typeface="Open Sauce"/>
              <a:cs typeface="Open Sauce"/>
              <a:sym typeface="Open Sauce"/>
            </a:endParaRPr>
          </a:p>
          <a:p>
            <a:pPr marL="1209039" lvl="2" indent="-403013" algn="l">
              <a:lnSpc>
                <a:spcPts val="4479"/>
              </a:lnSpc>
              <a:buFont typeface="Arial"/>
              <a:buChar char="⚬"/>
            </a:pPr>
            <a:r>
              <a:rPr lang="en-US" sz="2799" b="1">
                <a:solidFill>
                  <a:srgbClr val="000000"/>
                </a:solidFill>
                <a:latin typeface="Open Sauce Bold"/>
                <a:ea typeface="Open Sauce Bold"/>
                <a:cs typeface="Open Sauce Bold"/>
                <a:sym typeface="Open Sauce Bold"/>
              </a:rPr>
              <a:t>Dynamic</a:t>
            </a:r>
            <a:r>
              <a:rPr lang="en-US" sz="2799">
                <a:solidFill>
                  <a:srgbClr val="000000"/>
                </a:solidFill>
                <a:latin typeface="Open Sauce"/>
                <a:ea typeface="Open Sauce"/>
                <a:cs typeface="Open Sauce"/>
                <a:sym typeface="Open Sauce"/>
              </a:rPr>
              <a:t> </a:t>
            </a:r>
            <a:r>
              <a:rPr lang="en-US" sz="2799" b="1">
                <a:solidFill>
                  <a:srgbClr val="000000"/>
                </a:solidFill>
                <a:latin typeface="Open Sauce Bold"/>
                <a:ea typeface="Open Sauce Bold"/>
                <a:cs typeface="Open Sauce Bold"/>
                <a:sym typeface="Open Sauce Bold"/>
              </a:rPr>
              <a:t>Topic</a:t>
            </a:r>
            <a:r>
              <a:rPr lang="en-US" sz="2799">
                <a:solidFill>
                  <a:srgbClr val="000000"/>
                </a:solidFill>
                <a:latin typeface="Open Sauce"/>
                <a:ea typeface="Open Sauce"/>
                <a:cs typeface="Open Sauce"/>
                <a:sym typeface="Open Sauce"/>
              </a:rPr>
              <a:t> </a:t>
            </a:r>
            <a:r>
              <a:rPr lang="en-US" sz="2799" b="1">
                <a:solidFill>
                  <a:srgbClr val="000000"/>
                </a:solidFill>
                <a:latin typeface="Open Sauce Bold"/>
                <a:ea typeface="Open Sauce Bold"/>
                <a:cs typeface="Open Sauce Bold"/>
                <a:sym typeface="Open Sauce Bold"/>
              </a:rPr>
              <a:t>Modeling</a:t>
            </a:r>
            <a:r>
              <a:rPr lang="en-US" sz="2799">
                <a:solidFill>
                  <a:srgbClr val="000000"/>
                </a:solidFill>
                <a:latin typeface="Open Sauce"/>
                <a:ea typeface="Open Sauce"/>
                <a:cs typeface="Open Sauce"/>
                <a:sym typeface="Open Sauce"/>
              </a:rPr>
              <a:t>: Captures semantic meaning and context over time</a:t>
            </a:r>
          </a:p>
          <a:p>
            <a:pPr algn="l">
              <a:lnSpc>
                <a:spcPts val="4479"/>
              </a:lnSpc>
            </a:pPr>
            <a:endParaRPr lang="en-US" sz="2799">
              <a:solidFill>
                <a:srgbClr val="000000"/>
              </a:solidFill>
              <a:latin typeface="Open Sauce"/>
              <a:ea typeface="Open Sauce"/>
              <a:cs typeface="Open Sauce"/>
              <a:sym typeface="Open Sauce"/>
            </a:endParaRPr>
          </a:p>
          <a:p>
            <a:pPr marL="1209039" lvl="2" indent="-403013" algn="l">
              <a:lnSpc>
                <a:spcPts val="4479"/>
              </a:lnSpc>
              <a:buFont typeface="Arial"/>
              <a:buChar char="⚬"/>
            </a:pPr>
            <a:r>
              <a:rPr lang="en-US" sz="2799" b="1">
                <a:solidFill>
                  <a:srgbClr val="000000"/>
                </a:solidFill>
                <a:latin typeface="Open Sauce Bold"/>
                <a:ea typeface="Open Sauce Bold"/>
                <a:cs typeface="Open Sauce Bold"/>
                <a:sym typeface="Open Sauce Bold"/>
              </a:rPr>
              <a:t>Co-occurrence networks</a:t>
            </a:r>
            <a:r>
              <a:rPr lang="en-US" sz="2799">
                <a:solidFill>
                  <a:srgbClr val="000000"/>
                </a:solidFill>
                <a:latin typeface="Open Sauce"/>
                <a:ea typeface="Open Sauce"/>
                <a:cs typeface="Open Sauce"/>
                <a:sym typeface="Open Sauce"/>
              </a:rPr>
              <a:t>: How often terms appear together in the same context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166399" y="1233825"/>
            <a:ext cx="13553438"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Sentiment Analysis</a:t>
            </a:r>
          </a:p>
        </p:txBody>
      </p:sp>
      <p:sp>
        <p:nvSpPr>
          <p:cNvPr id="5" name="TextBox 5"/>
          <p:cNvSpPr txBox="1"/>
          <p:nvPr/>
        </p:nvSpPr>
        <p:spPr>
          <a:xfrm>
            <a:off x="1166399" y="2666672"/>
            <a:ext cx="15385249" cy="6802755"/>
          </a:xfrm>
          <a:prstGeom prst="rect">
            <a:avLst/>
          </a:prstGeom>
        </p:spPr>
        <p:txBody>
          <a:bodyPr lIns="0" tIns="0" rIns="0" bIns="0" rtlCol="0" anchor="t">
            <a:spAutoFit/>
          </a:bodyPr>
          <a:lstStyle/>
          <a:p>
            <a:pPr marL="647700" lvl="1" indent="-323850" algn="l">
              <a:lnSpc>
                <a:spcPts val="5460"/>
              </a:lnSpc>
              <a:buFont typeface="Arial"/>
              <a:buChar char="•"/>
            </a:pPr>
            <a:r>
              <a:rPr lang="en-US" sz="3000" u="sng">
                <a:solidFill>
                  <a:srgbClr val="000000"/>
                </a:solidFill>
                <a:latin typeface="Open Sauce"/>
                <a:ea typeface="Open Sauce"/>
                <a:cs typeface="Open Sauce"/>
                <a:sym typeface="Open Sauce"/>
              </a:rPr>
              <a:t>Sentiment analysis continuous compound score (VADER)</a:t>
            </a:r>
            <a:r>
              <a:rPr lang="en-US" sz="3000">
                <a:solidFill>
                  <a:srgbClr val="000000"/>
                </a:solidFill>
                <a:latin typeface="Open Sauce"/>
                <a:ea typeface="Open Sauce"/>
                <a:cs typeface="Open Sauce"/>
                <a:sym typeface="Open Sauce"/>
              </a:rPr>
              <a:t>: </a:t>
            </a:r>
          </a:p>
          <a:p>
            <a:pPr marL="1295400" lvl="2" indent="-431800" algn="l">
              <a:lnSpc>
                <a:spcPts val="5460"/>
              </a:lnSpc>
              <a:buFont typeface="Arial"/>
              <a:buChar char="⚬"/>
            </a:pPr>
            <a:r>
              <a:rPr lang="en-US" sz="3000">
                <a:solidFill>
                  <a:srgbClr val="000000"/>
                </a:solidFill>
                <a:latin typeface="Open Sauce"/>
                <a:ea typeface="Open Sauce"/>
                <a:cs typeface="Open Sauce"/>
                <a:sym typeface="Open Sauce"/>
              </a:rPr>
              <a:t>1: most positive</a:t>
            </a:r>
          </a:p>
          <a:p>
            <a:pPr marL="1943100" lvl="3" indent="-485775" algn="l">
              <a:lnSpc>
                <a:spcPts val="5460"/>
              </a:lnSpc>
              <a:buFont typeface="Arial"/>
              <a:buChar char="￭"/>
            </a:pPr>
            <a:r>
              <a:rPr lang="en-US" sz="3000">
                <a:solidFill>
                  <a:srgbClr val="000000"/>
                </a:solidFill>
                <a:latin typeface="Open Sauce"/>
                <a:ea typeface="Open Sauce"/>
                <a:cs typeface="Open Sauce"/>
                <a:sym typeface="Open Sauce"/>
              </a:rPr>
              <a:t>Example: “</a:t>
            </a:r>
            <a:r>
              <a:rPr lang="en-US" sz="3000" i="1">
                <a:solidFill>
                  <a:srgbClr val="000000"/>
                </a:solidFill>
                <a:latin typeface="Open Sauce Italics"/>
                <a:ea typeface="Open Sauce Italics"/>
                <a:cs typeface="Open Sauce Italics"/>
                <a:sym typeface="Open Sauce Italics"/>
              </a:rPr>
              <a:t>Inspiring</a:t>
            </a:r>
            <a:r>
              <a:rPr lang="en-US" sz="3000">
                <a:solidFill>
                  <a:srgbClr val="000000"/>
                </a:solidFill>
                <a:latin typeface="Open Sauce"/>
                <a:ea typeface="Open Sauce"/>
                <a:cs typeface="Open Sauce"/>
                <a:sym typeface="Open Sauce"/>
              </a:rPr>
              <a:t> to</a:t>
            </a:r>
            <a:r>
              <a:rPr lang="en-US" sz="3000" b="1">
                <a:solidFill>
                  <a:srgbClr val="000000"/>
                </a:solidFill>
                <a:latin typeface="Open Sauce Bold"/>
                <a:ea typeface="Open Sauce Bold"/>
                <a:cs typeface="Open Sauce Bold"/>
                <a:sym typeface="Open Sauce Bold"/>
              </a:rPr>
              <a:t> </a:t>
            </a:r>
            <a:r>
              <a:rPr lang="en-US" sz="3000">
                <a:solidFill>
                  <a:srgbClr val="000000"/>
                </a:solidFill>
                <a:latin typeface="Open Sauce"/>
                <a:ea typeface="Open Sauce"/>
                <a:cs typeface="Open Sauce"/>
                <a:sym typeface="Open Sauce"/>
              </a:rPr>
              <a:t>see</a:t>
            </a:r>
            <a:r>
              <a:rPr lang="en-US" sz="3000" b="1">
                <a:solidFill>
                  <a:srgbClr val="000000"/>
                </a:solidFill>
                <a:latin typeface="Open Sauce Bold"/>
                <a:ea typeface="Open Sauce Bold"/>
                <a:cs typeface="Open Sauce Bold"/>
                <a:sym typeface="Open Sauce Bold"/>
              </a:rPr>
              <a:t> </a:t>
            </a:r>
            <a:r>
              <a:rPr lang="en-US" sz="3000" i="1">
                <a:solidFill>
                  <a:srgbClr val="000000"/>
                </a:solidFill>
                <a:latin typeface="Open Sauce Italics"/>
                <a:ea typeface="Open Sauce Italics"/>
                <a:cs typeface="Open Sauce Italics"/>
                <a:sym typeface="Open Sauce Italics"/>
              </a:rPr>
              <a:t>solidarity</a:t>
            </a:r>
            <a:r>
              <a:rPr lang="en-US" sz="3000">
                <a:solidFill>
                  <a:srgbClr val="000000"/>
                </a:solidFill>
                <a:latin typeface="Open Sauce"/>
                <a:ea typeface="Open Sauce"/>
                <a:cs typeface="Open Sauce"/>
                <a:sym typeface="Open Sauce"/>
              </a:rPr>
              <a:t> against deportation” or “It’s a </a:t>
            </a:r>
            <a:r>
              <a:rPr lang="en-US" sz="3000" i="1">
                <a:solidFill>
                  <a:srgbClr val="000000"/>
                </a:solidFill>
                <a:latin typeface="Open Sauce Italics"/>
                <a:ea typeface="Open Sauce Italics"/>
                <a:cs typeface="Open Sauce Italics"/>
                <a:sym typeface="Open Sauce Italics"/>
              </a:rPr>
              <a:t>relief</a:t>
            </a:r>
            <a:r>
              <a:rPr lang="en-US" sz="3000">
                <a:solidFill>
                  <a:srgbClr val="000000"/>
                </a:solidFill>
                <a:latin typeface="Open Sauce"/>
                <a:ea typeface="Open Sauce"/>
                <a:cs typeface="Open Sauce"/>
                <a:sym typeface="Open Sauce"/>
              </a:rPr>
              <a:t> to see these raids happening because we need more </a:t>
            </a:r>
            <a:r>
              <a:rPr lang="en-US" sz="3000" i="1">
                <a:solidFill>
                  <a:srgbClr val="000000"/>
                </a:solidFill>
                <a:latin typeface="Open Sauce Italics"/>
                <a:ea typeface="Open Sauce Italics"/>
                <a:cs typeface="Open Sauce Italics"/>
                <a:sym typeface="Open Sauce Italics"/>
              </a:rPr>
              <a:t>law</a:t>
            </a:r>
            <a:r>
              <a:rPr lang="en-US" sz="3000">
                <a:solidFill>
                  <a:srgbClr val="000000"/>
                </a:solidFill>
                <a:latin typeface="Open Sauce"/>
                <a:ea typeface="Open Sauce"/>
                <a:cs typeface="Open Sauce"/>
                <a:sym typeface="Open Sauce"/>
              </a:rPr>
              <a:t> and </a:t>
            </a:r>
            <a:r>
              <a:rPr lang="en-US" sz="3000" i="1">
                <a:solidFill>
                  <a:srgbClr val="000000"/>
                </a:solidFill>
                <a:latin typeface="Open Sauce Italics"/>
                <a:ea typeface="Open Sauce Italics"/>
                <a:cs typeface="Open Sauce Italics"/>
                <a:sym typeface="Open Sauce Italics"/>
              </a:rPr>
              <a:t>order</a:t>
            </a:r>
            <a:r>
              <a:rPr lang="en-US" sz="3000">
                <a:solidFill>
                  <a:srgbClr val="000000"/>
                </a:solidFill>
                <a:latin typeface="Open Sauce"/>
                <a:ea typeface="Open Sauce"/>
                <a:cs typeface="Open Sauce"/>
                <a:sym typeface="Open Sauce"/>
              </a:rPr>
              <a:t>”</a:t>
            </a:r>
          </a:p>
          <a:p>
            <a:pPr marL="1295400" lvl="2" indent="-431800" algn="l">
              <a:lnSpc>
                <a:spcPts val="5460"/>
              </a:lnSpc>
              <a:buFont typeface="Arial"/>
              <a:buChar char="⚬"/>
            </a:pPr>
            <a:r>
              <a:rPr lang="en-US" sz="3000">
                <a:solidFill>
                  <a:srgbClr val="000000"/>
                </a:solidFill>
                <a:latin typeface="Open Sauce"/>
                <a:ea typeface="Open Sauce"/>
                <a:cs typeface="Open Sauce"/>
                <a:sym typeface="Open Sauce"/>
              </a:rPr>
              <a:t>0: neutral</a:t>
            </a:r>
          </a:p>
          <a:p>
            <a:pPr marL="1295400" lvl="2" indent="-431800" algn="l">
              <a:lnSpc>
                <a:spcPts val="5460"/>
              </a:lnSpc>
              <a:buFont typeface="Arial"/>
              <a:buChar char="⚬"/>
            </a:pPr>
            <a:r>
              <a:rPr lang="en-US" sz="3000">
                <a:solidFill>
                  <a:srgbClr val="000000"/>
                </a:solidFill>
                <a:latin typeface="Open Sauce"/>
                <a:ea typeface="Open Sauce"/>
                <a:cs typeface="Open Sauce"/>
                <a:sym typeface="Open Sauce"/>
              </a:rPr>
              <a:t>-1: most negative</a:t>
            </a:r>
          </a:p>
          <a:p>
            <a:pPr marL="1943100" lvl="3" indent="-485775" algn="l">
              <a:lnSpc>
                <a:spcPts val="5460"/>
              </a:lnSpc>
              <a:buFont typeface="Arial"/>
              <a:buChar char="￭"/>
            </a:pPr>
            <a:r>
              <a:rPr lang="en-US" sz="3000">
                <a:solidFill>
                  <a:srgbClr val="000000"/>
                </a:solidFill>
                <a:latin typeface="Open Sauce"/>
                <a:ea typeface="Open Sauce"/>
                <a:cs typeface="Open Sauce"/>
                <a:sym typeface="Open Sauce"/>
              </a:rPr>
              <a:t>Example: “The ICE raids were </a:t>
            </a:r>
            <a:r>
              <a:rPr lang="en-US" sz="3000" i="1">
                <a:solidFill>
                  <a:srgbClr val="000000"/>
                </a:solidFill>
                <a:latin typeface="Open Sauce Italics"/>
                <a:ea typeface="Open Sauce Italics"/>
                <a:cs typeface="Open Sauce Italics"/>
                <a:sym typeface="Open Sauce Italics"/>
              </a:rPr>
              <a:t>brutal</a:t>
            </a:r>
            <a:r>
              <a:rPr lang="en-US" sz="3000">
                <a:solidFill>
                  <a:srgbClr val="000000"/>
                </a:solidFill>
                <a:latin typeface="Open Sauce"/>
                <a:ea typeface="Open Sauce"/>
                <a:cs typeface="Open Sauce"/>
                <a:sym typeface="Open Sauce"/>
              </a:rPr>
              <a:t> and </a:t>
            </a:r>
            <a:r>
              <a:rPr lang="en-US" sz="3000" i="1">
                <a:solidFill>
                  <a:srgbClr val="000000"/>
                </a:solidFill>
                <a:latin typeface="Open Sauce Italics"/>
                <a:ea typeface="Open Sauce Italics"/>
                <a:cs typeface="Open Sauce Italics"/>
                <a:sym typeface="Open Sauce Italics"/>
              </a:rPr>
              <a:t>horrible</a:t>
            </a:r>
            <a:r>
              <a:rPr lang="en-US" sz="3000">
                <a:solidFill>
                  <a:srgbClr val="000000"/>
                </a:solidFill>
                <a:latin typeface="Open Sauce"/>
                <a:ea typeface="Open Sauce"/>
                <a:cs typeface="Open Sauce"/>
                <a:sym typeface="Open Sauce"/>
              </a:rPr>
              <a:t> for immigrant families”</a:t>
            </a:r>
          </a:p>
          <a:p>
            <a:pPr marL="647700" lvl="1" indent="-323850" algn="l">
              <a:lnSpc>
                <a:spcPts val="5460"/>
              </a:lnSpc>
              <a:buFont typeface="Arial"/>
              <a:buChar char="•"/>
            </a:pPr>
            <a:r>
              <a:rPr lang="en-US" sz="3000">
                <a:solidFill>
                  <a:srgbClr val="000000"/>
                </a:solidFill>
                <a:latin typeface="Open Sauce"/>
                <a:ea typeface="Open Sauce"/>
                <a:cs typeface="Open Sauce"/>
                <a:sym typeface="Open Sauce"/>
              </a:rPr>
              <a:t>Provides insight into emotional intensity in discourse</a:t>
            </a:r>
          </a:p>
          <a:p>
            <a:pPr marL="1295400" lvl="2" indent="-431800" algn="l">
              <a:lnSpc>
                <a:spcPts val="5460"/>
              </a:lnSpc>
              <a:buFont typeface="Arial"/>
              <a:buChar char="⚬"/>
            </a:pPr>
            <a:r>
              <a:rPr lang="en-US" sz="3000">
                <a:solidFill>
                  <a:srgbClr val="000000"/>
                </a:solidFill>
                <a:latin typeface="Open Sauce"/>
                <a:ea typeface="Open Sauce"/>
                <a:cs typeface="Open Sauce"/>
                <a:sym typeface="Open Sauce"/>
              </a:rPr>
              <a:t>Detects when immigration-related events (e.g., deployment of National Guard) trigger strong emotions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1358200" y="501217"/>
            <a:ext cx="15571600" cy="9284567"/>
          </a:xfrm>
          <a:custGeom>
            <a:avLst/>
            <a:gdLst/>
            <a:ahLst/>
            <a:cxnLst/>
            <a:rect l="l" t="t" r="r" b="b"/>
            <a:pathLst>
              <a:path w="15571600" h="9284567">
                <a:moveTo>
                  <a:pt x="0" y="0"/>
                </a:moveTo>
                <a:lnTo>
                  <a:pt x="15571600" y="0"/>
                </a:lnTo>
                <a:lnTo>
                  <a:pt x="15571600" y="9284566"/>
                </a:lnTo>
                <a:lnTo>
                  <a:pt x="0" y="9284566"/>
                </a:lnTo>
                <a:lnTo>
                  <a:pt x="0" y="0"/>
                </a:lnTo>
                <a:close/>
              </a:path>
            </a:pathLst>
          </a:custGeom>
          <a:blipFill>
            <a:blip r:embed="rId3"/>
            <a:stretch>
              <a:fillRect/>
            </a:stretch>
          </a:blipFill>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166399" y="1214775"/>
            <a:ext cx="15525470" cy="1226821"/>
          </a:xfrm>
          <a:prstGeom prst="rect">
            <a:avLst/>
          </a:prstGeom>
        </p:spPr>
        <p:txBody>
          <a:bodyPr lIns="0" tIns="0" rIns="0" bIns="0" rtlCol="0" anchor="t">
            <a:spAutoFit/>
          </a:bodyPr>
          <a:lstStyle/>
          <a:p>
            <a:pPr algn="l">
              <a:lnSpc>
                <a:spcPts val="10079"/>
              </a:lnSpc>
            </a:pPr>
            <a:r>
              <a:rPr lang="en-US" sz="7199">
                <a:solidFill>
                  <a:srgbClr val="000000"/>
                </a:solidFill>
                <a:latin typeface="DM Serif Display"/>
                <a:ea typeface="DM Serif Display"/>
                <a:cs typeface="DM Serif Display"/>
                <a:sym typeface="DM Serif Display"/>
              </a:rPr>
              <a:t>Stance Analysis</a:t>
            </a:r>
          </a:p>
        </p:txBody>
      </p:sp>
      <p:sp>
        <p:nvSpPr>
          <p:cNvPr id="5" name="TextBox 5"/>
          <p:cNvSpPr txBox="1"/>
          <p:nvPr/>
        </p:nvSpPr>
        <p:spPr>
          <a:xfrm>
            <a:off x="1166399" y="3078398"/>
            <a:ext cx="16092901" cy="4073652"/>
          </a:xfrm>
          <a:prstGeom prst="rect">
            <a:avLst/>
          </a:prstGeom>
        </p:spPr>
        <p:txBody>
          <a:bodyPr lIns="0" tIns="0" rIns="0" bIns="0" rtlCol="0" anchor="t">
            <a:spAutoFit/>
          </a:bodyPr>
          <a:lstStyle/>
          <a:p>
            <a:pPr marL="712470" lvl="1" indent="-356235" algn="l">
              <a:lnSpc>
                <a:spcPts val="6534"/>
              </a:lnSpc>
              <a:buFont typeface="Arial"/>
              <a:buChar char="•"/>
            </a:pPr>
            <a:r>
              <a:rPr lang="en-US" sz="3300">
                <a:solidFill>
                  <a:srgbClr val="000000"/>
                </a:solidFill>
                <a:latin typeface="Open Sauce"/>
                <a:ea typeface="Open Sauce"/>
                <a:cs typeface="Open Sauce"/>
                <a:sym typeface="Open Sauce"/>
              </a:rPr>
              <a:t>Detects where someone broadly stands on the issue of immigration</a:t>
            </a:r>
          </a:p>
          <a:p>
            <a:pPr marL="1424940" lvl="2" indent="-474980" algn="l">
              <a:lnSpc>
                <a:spcPts val="6534"/>
              </a:lnSpc>
              <a:buFont typeface="Arial"/>
              <a:buChar char="⚬"/>
            </a:pPr>
            <a:r>
              <a:rPr lang="en-US" sz="3300">
                <a:solidFill>
                  <a:srgbClr val="000000"/>
                </a:solidFill>
                <a:latin typeface="Open Sauce"/>
                <a:ea typeface="Open Sauce"/>
                <a:cs typeface="Open Sauce"/>
                <a:sym typeface="Open Sauce"/>
              </a:rPr>
              <a:t>Pro-immigration terms include phrases like “due process” (in the context of ICE raids) and “pathway to citizenship”</a:t>
            </a:r>
          </a:p>
          <a:p>
            <a:pPr marL="1424940" lvl="2" indent="-474980" algn="l">
              <a:lnSpc>
                <a:spcPts val="6534"/>
              </a:lnSpc>
              <a:buFont typeface="Arial"/>
              <a:buChar char="⚬"/>
            </a:pPr>
            <a:r>
              <a:rPr lang="en-US" sz="3300">
                <a:solidFill>
                  <a:srgbClr val="000000"/>
                </a:solidFill>
                <a:latin typeface="Open Sauce"/>
                <a:ea typeface="Open Sauce"/>
                <a:cs typeface="Open Sauce"/>
                <a:sym typeface="Open Sauce"/>
              </a:rPr>
              <a:t>Anti-immigration terms include phrases like “illegal aliens”, “anchor babies”, and “deport them all”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52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368605" y="1257300"/>
            <a:ext cx="8447904" cy="4192272"/>
          </a:xfrm>
          <a:custGeom>
            <a:avLst/>
            <a:gdLst/>
            <a:ahLst/>
            <a:cxnLst/>
            <a:rect l="l" t="t" r="r" b="b"/>
            <a:pathLst>
              <a:path w="8447904" h="4192272">
                <a:moveTo>
                  <a:pt x="0" y="0"/>
                </a:moveTo>
                <a:lnTo>
                  <a:pt x="8447904" y="0"/>
                </a:lnTo>
                <a:lnTo>
                  <a:pt x="8447904" y="4192272"/>
                </a:lnTo>
                <a:lnTo>
                  <a:pt x="0" y="4192272"/>
                </a:lnTo>
                <a:lnTo>
                  <a:pt x="0" y="0"/>
                </a:lnTo>
                <a:close/>
              </a:path>
            </a:pathLst>
          </a:custGeom>
          <a:blipFill>
            <a:blip r:embed="rId3"/>
            <a:stretch>
              <a:fillRect/>
            </a:stretch>
          </a:blipFill>
        </p:spPr>
        <p:txBody>
          <a:bodyPr/>
          <a:lstStyle/>
          <a:p>
            <a:endParaRPr lang="en-US"/>
          </a:p>
        </p:txBody>
      </p:sp>
      <p:sp>
        <p:nvSpPr>
          <p:cNvPr id="4" name="Freeform 4"/>
          <p:cNvSpPr/>
          <p:nvPr/>
        </p:nvSpPr>
        <p:spPr>
          <a:xfrm>
            <a:off x="5478708" y="5675873"/>
            <a:ext cx="9309783" cy="4619657"/>
          </a:xfrm>
          <a:custGeom>
            <a:avLst/>
            <a:gdLst/>
            <a:ahLst/>
            <a:cxnLst/>
            <a:rect l="l" t="t" r="r" b="b"/>
            <a:pathLst>
              <a:path w="9309783" h="4619657">
                <a:moveTo>
                  <a:pt x="0" y="0"/>
                </a:moveTo>
                <a:lnTo>
                  <a:pt x="9309783" y="0"/>
                </a:lnTo>
                <a:lnTo>
                  <a:pt x="9309783" y="4619656"/>
                </a:lnTo>
                <a:lnTo>
                  <a:pt x="0" y="4619656"/>
                </a:lnTo>
                <a:lnTo>
                  <a:pt x="0" y="0"/>
                </a:lnTo>
                <a:close/>
              </a:path>
            </a:pathLst>
          </a:custGeom>
          <a:blipFill>
            <a:blip r:embed="rId4"/>
            <a:stretch>
              <a:fillRect/>
            </a:stretch>
          </a:blipFill>
        </p:spPr>
        <p:txBody>
          <a:bodyPr/>
          <a:lstStyle/>
          <a:p>
            <a:endParaRPr lang="en-US"/>
          </a:p>
        </p:txBody>
      </p:sp>
      <p:sp>
        <p:nvSpPr>
          <p:cNvPr id="5" name="Freeform 5"/>
          <p:cNvSpPr/>
          <p:nvPr/>
        </p:nvSpPr>
        <p:spPr>
          <a:xfrm>
            <a:off x="9247449" y="1279515"/>
            <a:ext cx="8554725" cy="4244985"/>
          </a:xfrm>
          <a:custGeom>
            <a:avLst/>
            <a:gdLst/>
            <a:ahLst/>
            <a:cxnLst/>
            <a:rect l="l" t="t" r="r" b="b"/>
            <a:pathLst>
              <a:path w="8554725" h="4244985">
                <a:moveTo>
                  <a:pt x="0" y="0"/>
                </a:moveTo>
                <a:lnTo>
                  <a:pt x="8554725" y="0"/>
                </a:lnTo>
                <a:lnTo>
                  <a:pt x="8554725" y="4244985"/>
                </a:lnTo>
                <a:lnTo>
                  <a:pt x="0" y="4244985"/>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2743200" y="295910"/>
            <a:ext cx="3074049" cy="580390"/>
          </a:xfrm>
          <a:prstGeom prst="rect">
            <a:avLst/>
          </a:prstGeom>
        </p:spPr>
        <p:txBody>
          <a:bodyPr wrap="square"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r/immigration</a:t>
            </a:r>
          </a:p>
        </p:txBody>
      </p:sp>
      <p:sp>
        <p:nvSpPr>
          <p:cNvPr id="7" name="TextBox 7"/>
          <p:cNvSpPr txBox="1"/>
          <p:nvPr/>
        </p:nvSpPr>
        <p:spPr>
          <a:xfrm>
            <a:off x="10788785" y="448310"/>
            <a:ext cx="5213215" cy="580390"/>
          </a:xfrm>
          <a:prstGeom prst="rect">
            <a:avLst/>
          </a:prstGeom>
        </p:spPr>
        <p:txBody>
          <a:bodyPr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r/</a:t>
            </a:r>
            <a:r>
              <a:rPr lang="en-US" sz="3399" dirty="0" err="1">
                <a:solidFill>
                  <a:srgbClr val="000000"/>
                </a:solidFill>
                <a:latin typeface="Canva Sans"/>
                <a:ea typeface="Canva Sans"/>
                <a:cs typeface="Canva Sans"/>
                <a:sym typeface="Canva Sans"/>
              </a:rPr>
              <a:t>politicaldiscussion</a:t>
            </a:r>
            <a:endParaRPr lang="en-US" sz="3399" dirty="0">
              <a:solidFill>
                <a:srgbClr val="000000"/>
              </a:solidFill>
              <a:latin typeface="Canva Sans"/>
              <a:ea typeface="Canva Sans"/>
              <a:cs typeface="Canva Sans"/>
              <a:sym typeface="Canva Sans"/>
            </a:endParaRPr>
          </a:p>
        </p:txBody>
      </p:sp>
      <p:sp>
        <p:nvSpPr>
          <p:cNvPr id="8" name="TextBox 8"/>
          <p:cNvSpPr txBox="1"/>
          <p:nvPr/>
        </p:nvSpPr>
        <p:spPr>
          <a:xfrm>
            <a:off x="122430" y="7279362"/>
            <a:ext cx="5213215"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r/politics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52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166399" y="583278"/>
            <a:ext cx="13553438"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Framing Analysis</a:t>
            </a:r>
          </a:p>
        </p:txBody>
      </p:sp>
      <p:sp>
        <p:nvSpPr>
          <p:cNvPr id="4" name="TextBox 4"/>
          <p:cNvSpPr txBox="1"/>
          <p:nvPr/>
        </p:nvSpPr>
        <p:spPr>
          <a:xfrm>
            <a:off x="1166399" y="2195856"/>
            <a:ext cx="17736302" cy="5790513"/>
          </a:xfrm>
          <a:prstGeom prst="rect">
            <a:avLst/>
          </a:prstGeom>
        </p:spPr>
        <p:txBody>
          <a:bodyPr lIns="0" tIns="0" rIns="0" bIns="0" rtlCol="0" anchor="t">
            <a:spAutoFit/>
          </a:bodyPr>
          <a:lstStyle/>
          <a:p>
            <a:pPr marL="696897" lvl="1" indent="-348449" algn="l">
              <a:lnSpc>
                <a:spcPts val="5164"/>
              </a:lnSpc>
              <a:buFont typeface="Arial"/>
              <a:buChar char="•"/>
            </a:pPr>
            <a:r>
              <a:rPr lang="en-US" sz="3227" b="1">
                <a:solidFill>
                  <a:srgbClr val="000000"/>
                </a:solidFill>
                <a:latin typeface="Open Sauce Bold"/>
                <a:ea typeface="Open Sauce Bold"/>
                <a:cs typeface="Open Sauce Bold"/>
                <a:sym typeface="Open Sauce Bold"/>
              </a:rPr>
              <a:t>Frames</a:t>
            </a:r>
            <a:r>
              <a:rPr lang="en-US" sz="3227">
                <a:solidFill>
                  <a:srgbClr val="000000"/>
                </a:solidFill>
                <a:latin typeface="Open Sauce"/>
                <a:ea typeface="Open Sauce"/>
                <a:cs typeface="Open Sauce"/>
                <a:sym typeface="Open Sauce"/>
              </a:rPr>
              <a:t> (content of discourse on immigration) tracked:</a:t>
            </a:r>
          </a:p>
          <a:p>
            <a:pPr marL="1393795" lvl="2" indent="-464598" algn="l">
              <a:lnSpc>
                <a:spcPts val="5164"/>
              </a:lnSpc>
              <a:buFont typeface="Arial"/>
              <a:buChar char="⚬"/>
            </a:pPr>
            <a:r>
              <a:rPr lang="en-US" sz="3227">
                <a:solidFill>
                  <a:srgbClr val="000000"/>
                </a:solidFill>
                <a:latin typeface="Open Sauce"/>
                <a:ea typeface="Open Sauce"/>
                <a:cs typeface="Open Sauce"/>
                <a:sym typeface="Open Sauce"/>
              </a:rPr>
              <a:t>birthright citizenship (e.g., “end birthright citizenship”)</a:t>
            </a:r>
          </a:p>
          <a:p>
            <a:pPr marL="1393795" lvl="2" indent="-464598" algn="l">
              <a:lnSpc>
                <a:spcPts val="5164"/>
              </a:lnSpc>
              <a:buFont typeface="Arial"/>
              <a:buChar char="⚬"/>
            </a:pPr>
            <a:r>
              <a:rPr lang="en-US" sz="3227">
                <a:solidFill>
                  <a:srgbClr val="000000"/>
                </a:solidFill>
                <a:latin typeface="Open Sauce"/>
                <a:ea typeface="Open Sauce"/>
                <a:cs typeface="Open Sauce"/>
                <a:sym typeface="Open Sauce"/>
              </a:rPr>
              <a:t>enforcement and detention (e.g., “detention center”)</a:t>
            </a:r>
          </a:p>
          <a:p>
            <a:pPr marL="1393795" lvl="2" indent="-464598" algn="l">
              <a:lnSpc>
                <a:spcPts val="5164"/>
              </a:lnSpc>
              <a:buFont typeface="Arial"/>
              <a:buChar char="⚬"/>
            </a:pPr>
            <a:r>
              <a:rPr lang="en-US" sz="3227">
                <a:solidFill>
                  <a:srgbClr val="000000"/>
                </a:solidFill>
                <a:latin typeface="Open Sauce"/>
                <a:ea typeface="Open Sauce"/>
                <a:cs typeface="Open Sauce"/>
                <a:sym typeface="Open Sauce"/>
              </a:rPr>
              <a:t>deportation and removal (e.g., “deport them all”)</a:t>
            </a:r>
          </a:p>
          <a:p>
            <a:pPr marL="1393795" lvl="2" indent="-464598" algn="l">
              <a:lnSpc>
                <a:spcPts val="5164"/>
              </a:lnSpc>
              <a:buFont typeface="Arial"/>
              <a:buChar char="⚬"/>
            </a:pPr>
            <a:r>
              <a:rPr lang="en-US" sz="3227">
                <a:solidFill>
                  <a:srgbClr val="000000"/>
                </a:solidFill>
                <a:latin typeface="Open Sauce"/>
                <a:ea typeface="Open Sauce"/>
                <a:cs typeface="Open Sauce"/>
                <a:sym typeface="Open Sauce"/>
              </a:rPr>
              <a:t>asylum and refugees (e.g., “refugee status”)</a:t>
            </a:r>
          </a:p>
          <a:p>
            <a:pPr marL="1393795" lvl="2" indent="-464598" algn="l">
              <a:lnSpc>
                <a:spcPts val="5164"/>
              </a:lnSpc>
              <a:buFont typeface="Arial"/>
              <a:buChar char="⚬"/>
            </a:pPr>
            <a:r>
              <a:rPr lang="en-US" sz="3227">
                <a:solidFill>
                  <a:srgbClr val="000000"/>
                </a:solidFill>
                <a:latin typeface="Open Sauce"/>
                <a:ea typeface="Open Sauce"/>
                <a:cs typeface="Open Sauce"/>
                <a:sym typeface="Open Sauce"/>
              </a:rPr>
              <a:t>citizenship and passport (e.g., “citizenship interview”)</a:t>
            </a:r>
          </a:p>
          <a:p>
            <a:pPr marL="1393795" lvl="2" indent="-464598" algn="l">
              <a:lnSpc>
                <a:spcPts val="5164"/>
              </a:lnSpc>
              <a:buFont typeface="Arial"/>
              <a:buChar char="⚬"/>
            </a:pPr>
            <a:r>
              <a:rPr lang="en-US" sz="3227">
                <a:solidFill>
                  <a:srgbClr val="000000"/>
                </a:solidFill>
                <a:latin typeface="Open Sauce"/>
                <a:ea typeface="Open Sauce"/>
                <a:cs typeface="Open Sauce"/>
                <a:sym typeface="Open Sauce"/>
              </a:rPr>
              <a:t>visa process (e.g., “visa interview”)</a:t>
            </a:r>
          </a:p>
          <a:p>
            <a:pPr marL="1393795" lvl="2" indent="-464598" algn="l">
              <a:lnSpc>
                <a:spcPts val="5164"/>
              </a:lnSpc>
              <a:buFont typeface="Arial"/>
              <a:buChar char="⚬"/>
            </a:pPr>
            <a:r>
              <a:rPr lang="en-US" sz="3227">
                <a:solidFill>
                  <a:srgbClr val="000000"/>
                </a:solidFill>
                <a:latin typeface="Open Sauce"/>
                <a:ea typeface="Open Sauce"/>
                <a:cs typeface="Open Sauce"/>
                <a:sym typeface="Open Sauce"/>
              </a:rPr>
              <a:t>immigration for work (e.g., “work authorization”)</a:t>
            </a:r>
          </a:p>
          <a:p>
            <a:pPr marL="1393795" lvl="2" indent="-464598" algn="l">
              <a:lnSpc>
                <a:spcPts val="5164"/>
              </a:lnSpc>
              <a:buFont typeface="Arial"/>
              <a:buChar char="⚬"/>
            </a:pPr>
            <a:r>
              <a:rPr lang="en-US" sz="3227">
                <a:solidFill>
                  <a:srgbClr val="000000"/>
                </a:solidFill>
                <a:latin typeface="Open Sauce"/>
                <a:ea typeface="Open Sauce"/>
                <a:cs typeface="Open Sauce"/>
                <a:sym typeface="Open Sauce"/>
              </a:rPr>
              <a:t>politics and Trump’s campaign (e.g., “executive order”)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52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383788" y="1028700"/>
            <a:ext cx="8556270" cy="4246049"/>
          </a:xfrm>
          <a:custGeom>
            <a:avLst/>
            <a:gdLst/>
            <a:ahLst/>
            <a:cxnLst/>
            <a:rect l="l" t="t" r="r" b="b"/>
            <a:pathLst>
              <a:path w="8556270" h="4246049">
                <a:moveTo>
                  <a:pt x="0" y="0"/>
                </a:moveTo>
                <a:lnTo>
                  <a:pt x="8556270" y="0"/>
                </a:lnTo>
                <a:lnTo>
                  <a:pt x="8556270" y="4246049"/>
                </a:lnTo>
                <a:lnTo>
                  <a:pt x="0" y="4246049"/>
                </a:lnTo>
                <a:lnTo>
                  <a:pt x="0" y="0"/>
                </a:lnTo>
                <a:close/>
              </a:path>
            </a:pathLst>
          </a:custGeom>
          <a:blipFill>
            <a:blip r:embed="rId3"/>
            <a:stretch>
              <a:fillRect/>
            </a:stretch>
          </a:blipFill>
        </p:spPr>
        <p:txBody>
          <a:bodyPr/>
          <a:lstStyle/>
          <a:p>
            <a:endParaRPr lang="en-US"/>
          </a:p>
        </p:txBody>
      </p:sp>
      <p:sp>
        <p:nvSpPr>
          <p:cNvPr id="4" name="Freeform 4"/>
          <p:cNvSpPr/>
          <p:nvPr/>
        </p:nvSpPr>
        <p:spPr>
          <a:xfrm>
            <a:off x="9490755" y="1067679"/>
            <a:ext cx="8399764" cy="4168092"/>
          </a:xfrm>
          <a:custGeom>
            <a:avLst/>
            <a:gdLst/>
            <a:ahLst/>
            <a:cxnLst/>
            <a:rect l="l" t="t" r="r" b="b"/>
            <a:pathLst>
              <a:path w="8399764" h="4168092">
                <a:moveTo>
                  <a:pt x="0" y="0"/>
                </a:moveTo>
                <a:lnTo>
                  <a:pt x="8399764" y="0"/>
                </a:lnTo>
                <a:lnTo>
                  <a:pt x="8399764" y="4168091"/>
                </a:lnTo>
                <a:lnTo>
                  <a:pt x="0" y="4168091"/>
                </a:lnTo>
                <a:lnTo>
                  <a:pt x="0" y="0"/>
                </a:lnTo>
                <a:close/>
              </a:path>
            </a:pathLst>
          </a:custGeom>
          <a:blipFill>
            <a:blip r:embed="rId4"/>
            <a:stretch>
              <a:fillRect/>
            </a:stretch>
          </a:blipFill>
        </p:spPr>
        <p:txBody>
          <a:bodyPr/>
          <a:lstStyle/>
          <a:p>
            <a:endParaRPr lang="en-US"/>
          </a:p>
        </p:txBody>
      </p:sp>
      <p:sp>
        <p:nvSpPr>
          <p:cNvPr id="5" name="Freeform 5"/>
          <p:cNvSpPr/>
          <p:nvPr/>
        </p:nvSpPr>
        <p:spPr>
          <a:xfrm>
            <a:off x="4661923" y="5672259"/>
            <a:ext cx="9299877" cy="4614741"/>
          </a:xfrm>
          <a:custGeom>
            <a:avLst/>
            <a:gdLst/>
            <a:ahLst/>
            <a:cxnLst/>
            <a:rect l="l" t="t" r="r" b="b"/>
            <a:pathLst>
              <a:path w="9299877" h="4614741">
                <a:moveTo>
                  <a:pt x="0" y="0"/>
                </a:moveTo>
                <a:lnTo>
                  <a:pt x="9299877" y="0"/>
                </a:lnTo>
                <a:lnTo>
                  <a:pt x="9299877" y="4614741"/>
                </a:lnTo>
                <a:lnTo>
                  <a:pt x="0" y="4614741"/>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2576446" y="191452"/>
            <a:ext cx="3028897" cy="580390"/>
          </a:xfrm>
          <a:prstGeom prst="rect">
            <a:avLst/>
          </a:prstGeom>
        </p:spPr>
        <p:txBody>
          <a:bodyPr wrap="square"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r/immigration</a:t>
            </a:r>
          </a:p>
        </p:txBody>
      </p:sp>
      <p:sp>
        <p:nvSpPr>
          <p:cNvPr id="7" name="TextBox 7"/>
          <p:cNvSpPr txBox="1"/>
          <p:nvPr/>
        </p:nvSpPr>
        <p:spPr>
          <a:xfrm>
            <a:off x="11384490" y="191452"/>
            <a:ext cx="4327064"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r/politicaldiscussion</a:t>
            </a:r>
          </a:p>
        </p:txBody>
      </p:sp>
      <p:sp>
        <p:nvSpPr>
          <p:cNvPr id="8" name="TextBox 8"/>
          <p:cNvSpPr txBox="1"/>
          <p:nvPr/>
        </p:nvSpPr>
        <p:spPr>
          <a:xfrm>
            <a:off x="1828800" y="7681267"/>
            <a:ext cx="2095747" cy="580390"/>
          </a:xfrm>
          <a:prstGeom prst="rect">
            <a:avLst/>
          </a:prstGeom>
        </p:spPr>
        <p:txBody>
          <a:bodyPr wrap="square"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r/politics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52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166399" y="747201"/>
            <a:ext cx="13553438" cy="1160780"/>
          </a:xfrm>
          <a:prstGeom prst="rect">
            <a:avLst/>
          </a:prstGeom>
        </p:spPr>
        <p:txBody>
          <a:bodyPr lIns="0" tIns="0" rIns="0" bIns="0" rtlCol="0" anchor="t">
            <a:spAutoFit/>
          </a:bodyPr>
          <a:lstStyle/>
          <a:p>
            <a:pPr algn="l">
              <a:lnSpc>
                <a:spcPts val="9519"/>
              </a:lnSpc>
            </a:pPr>
            <a:r>
              <a:rPr lang="en-US" sz="6799">
                <a:solidFill>
                  <a:srgbClr val="000000"/>
                </a:solidFill>
                <a:latin typeface="DM Serif Display"/>
                <a:ea typeface="DM Serif Display"/>
                <a:cs typeface="DM Serif Display"/>
                <a:sym typeface="DM Serif Display"/>
              </a:rPr>
              <a:t>LDA</a:t>
            </a:r>
          </a:p>
        </p:txBody>
      </p:sp>
      <p:sp>
        <p:nvSpPr>
          <p:cNvPr id="4" name="TextBox 4"/>
          <p:cNvSpPr txBox="1"/>
          <p:nvPr/>
        </p:nvSpPr>
        <p:spPr>
          <a:xfrm>
            <a:off x="1166399" y="2742565"/>
            <a:ext cx="15385249" cy="4295394"/>
          </a:xfrm>
          <a:prstGeom prst="rect">
            <a:avLst/>
          </a:prstGeom>
        </p:spPr>
        <p:txBody>
          <a:bodyPr lIns="0" tIns="0" rIns="0" bIns="0" rtlCol="0" anchor="t">
            <a:spAutoFit/>
          </a:bodyPr>
          <a:lstStyle/>
          <a:p>
            <a:pPr marL="712470" lvl="1" indent="-356235" algn="l">
              <a:lnSpc>
                <a:spcPts val="6963"/>
              </a:lnSpc>
              <a:buFont typeface="Arial"/>
              <a:buChar char="•"/>
            </a:pPr>
            <a:r>
              <a:rPr lang="en-US" sz="3300">
                <a:solidFill>
                  <a:srgbClr val="000000"/>
                </a:solidFill>
                <a:latin typeface="Open Sauce"/>
                <a:ea typeface="Open Sauce"/>
                <a:cs typeface="Open Sauce"/>
                <a:sym typeface="Open Sauce"/>
              </a:rPr>
              <a:t>Word cloud generated for </a:t>
            </a:r>
            <a:r>
              <a:rPr lang="en-US" sz="3300" b="1">
                <a:solidFill>
                  <a:srgbClr val="000000"/>
                </a:solidFill>
                <a:latin typeface="Open Sauce Bold"/>
                <a:ea typeface="Open Sauce Bold"/>
                <a:cs typeface="Open Sauce Bold"/>
                <a:sym typeface="Open Sauce Bold"/>
              </a:rPr>
              <a:t>LDA</a:t>
            </a:r>
          </a:p>
          <a:p>
            <a:pPr marL="1424940" lvl="2" indent="-474980" algn="l">
              <a:lnSpc>
                <a:spcPts val="6963"/>
              </a:lnSpc>
              <a:buFont typeface="Arial"/>
              <a:buChar char="⚬"/>
            </a:pPr>
            <a:r>
              <a:rPr lang="en-US" sz="3300">
                <a:solidFill>
                  <a:srgbClr val="000000"/>
                </a:solidFill>
                <a:latin typeface="Open Sauce"/>
                <a:ea typeface="Open Sauce"/>
                <a:cs typeface="Open Sauce"/>
                <a:sym typeface="Open Sauce"/>
              </a:rPr>
              <a:t>LDA gave us distributions of words with probabilities (topics), and a word cloud visualizes the most frequent (or highest-weight) words</a:t>
            </a:r>
          </a:p>
          <a:p>
            <a:pPr marL="1424940" lvl="2" indent="-474980" algn="l">
              <a:lnSpc>
                <a:spcPts val="6963"/>
              </a:lnSpc>
              <a:buFont typeface="Arial"/>
              <a:buChar char="⚬"/>
            </a:pPr>
            <a:r>
              <a:rPr lang="en-US" sz="3300">
                <a:solidFill>
                  <a:srgbClr val="000000"/>
                </a:solidFill>
                <a:latin typeface="Open Sauce"/>
                <a:ea typeface="Open Sauce"/>
                <a:cs typeface="Open Sauce"/>
                <a:sym typeface="Open Sauce"/>
              </a:rPr>
              <a:t>We ran this on </a:t>
            </a:r>
            <a:r>
              <a:rPr lang="en-US" sz="3300" i="1">
                <a:solidFill>
                  <a:srgbClr val="000000"/>
                </a:solidFill>
                <a:latin typeface="Open Sauce Italics"/>
                <a:ea typeface="Open Sauce Italics"/>
                <a:cs typeface="Open Sauce Italics"/>
                <a:sym typeface="Open Sauce Italics"/>
              </a:rPr>
              <a:t>all</a:t>
            </a:r>
            <a:r>
              <a:rPr lang="en-US" sz="3300">
                <a:solidFill>
                  <a:srgbClr val="000000"/>
                </a:solidFill>
                <a:latin typeface="Open Sauce"/>
                <a:ea typeface="Open Sauce"/>
                <a:cs typeface="Open Sauce"/>
                <a:sym typeface="Open Sauce"/>
              </a:rPr>
              <a:t> discourse in the subreddits, not just on immigration discourse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52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473936" y="944760"/>
            <a:ext cx="8190135" cy="4198740"/>
          </a:xfrm>
          <a:custGeom>
            <a:avLst/>
            <a:gdLst/>
            <a:ahLst/>
            <a:cxnLst/>
            <a:rect l="l" t="t" r="r" b="b"/>
            <a:pathLst>
              <a:path w="8190135" h="4198740">
                <a:moveTo>
                  <a:pt x="0" y="0"/>
                </a:moveTo>
                <a:lnTo>
                  <a:pt x="8190135" y="0"/>
                </a:lnTo>
                <a:lnTo>
                  <a:pt x="8190135" y="4198740"/>
                </a:lnTo>
                <a:lnTo>
                  <a:pt x="0" y="4198740"/>
                </a:lnTo>
                <a:lnTo>
                  <a:pt x="0" y="0"/>
                </a:lnTo>
                <a:close/>
              </a:path>
            </a:pathLst>
          </a:custGeom>
          <a:blipFill>
            <a:blip r:embed="rId3"/>
            <a:stretch>
              <a:fillRect/>
            </a:stretch>
          </a:blipFill>
        </p:spPr>
        <p:txBody>
          <a:bodyPr/>
          <a:lstStyle/>
          <a:p>
            <a:endParaRPr lang="en-US"/>
          </a:p>
        </p:txBody>
      </p:sp>
      <p:sp>
        <p:nvSpPr>
          <p:cNvPr id="4" name="Freeform 4"/>
          <p:cNvSpPr/>
          <p:nvPr/>
        </p:nvSpPr>
        <p:spPr>
          <a:xfrm>
            <a:off x="9603835" y="944760"/>
            <a:ext cx="8083835" cy="4144245"/>
          </a:xfrm>
          <a:custGeom>
            <a:avLst/>
            <a:gdLst/>
            <a:ahLst/>
            <a:cxnLst/>
            <a:rect l="l" t="t" r="r" b="b"/>
            <a:pathLst>
              <a:path w="8083835" h="4144245">
                <a:moveTo>
                  <a:pt x="0" y="0"/>
                </a:moveTo>
                <a:lnTo>
                  <a:pt x="8083835" y="0"/>
                </a:lnTo>
                <a:lnTo>
                  <a:pt x="8083835" y="4144244"/>
                </a:lnTo>
                <a:lnTo>
                  <a:pt x="0" y="4144244"/>
                </a:lnTo>
                <a:lnTo>
                  <a:pt x="0" y="0"/>
                </a:lnTo>
                <a:close/>
              </a:path>
            </a:pathLst>
          </a:custGeom>
          <a:blipFill>
            <a:blip r:embed="rId4"/>
            <a:stretch>
              <a:fillRect/>
            </a:stretch>
          </a:blipFill>
        </p:spPr>
        <p:txBody>
          <a:bodyPr/>
          <a:lstStyle/>
          <a:p>
            <a:endParaRPr lang="en-US"/>
          </a:p>
        </p:txBody>
      </p:sp>
      <p:sp>
        <p:nvSpPr>
          <p:cNvPr id="5" name="Freeform 5"/>
          <p:cNvSpPr/>
          <p:nvPr/>
        </p:nvSpPr>
        <p:spPr>
          <a:xfrm>
            <a:off x="4721994" y="5678328"/>
            <a:ext cx="8176143" cy="4191567"/>
          </a:xfrm>
          <a:custGeom>
            <a:avLst/>
            <a:gdLst/>
            <a:ahLst/>
            <a:cxnLst/>
            <a:rect l="l" t="t" r="r" b="b"/>
            <a:pathLst>
              <a:path w="8176143" h="4191567">
                <a:moveTo>
                  <a:pt x="0" y="0"/>
                </a:moveTo>
                <a:lnTo>
                  <a:pt x="8176144" y="0"/>
                </a:lnTo>
                <a:lnTo>
                  <a:pt x="8176144" y="4191567"/>
                </a:lnTo>
                <a:lnTo>
                  <a:pt x="0" y="4191567"/>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473936" y="364370"/>
            <a:ext cx="8083835"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r/immigration</a:t>
            </a:r>
          </a:p>
        </p:txBody>
      </p:sp>
      <p:sp>
        <p:nvSpPr>
          <p:cNvPr id="7" name="TextBox 7"/>
          <p:cNvSpPr txBox="1"/>
          <p:nvPr/>
        </p:nvSpPr>
        <p:spPr>
          <a:xfrm>
            <a:off x="9603835" y="364370"/>
            <a:ext cx="8083835"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r/politicaldiscussion</a:t>
            </a:r>
          </a:p>
        </p:txBody>
      </p:sp>
      <p:sp>
        <p:nvSpPr>
          <p:cNvPr id="8" name="TextBox 8"/>
          <p:cNvSpPr txBox="1"/>
          <p:nvPr/>
        </p:nvSpPr>
        <p:spPr>
          <a:xfrm>
            <a:off x="4814303" y="5097938"/>
            <a:ext cx="8083835"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r/politics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166399" y="1214775"/>
            <a:ext cx="15525470" cy="1226821"/>
          </a:xfrm>
          <a:prstGeom prst="rect">
            <a:avLst/>
          </a:prstGeom>
        </p:spPr>
        <p:txBody>
          <a:bodyPr lIns="0" tIns="0" rIns="0" bIns="0" rtlCol="0" anchor="t">
            <a:spAutoFit/>
          </a:bodyPr>
          <a:lstStyle/>
          <a:p>
            <a:pPr algn="l">
              <a:lnSpc>
                <a:spcPts val="10079"/>
              </a:lnSpc>
            </a:pPr>
            <a:r>
              <a:rPr lang="en-US" sz="7199">
                <a:solidFill>
                  <a:srgbClr val="000000"/>
                </a:solidFill>
                <a:latin typeface="DM Serif Display"/>
                <a:ea typeface="DM Serif Display"/>
                <a:cs typeface="DM Serif Display"/>
                <a:sym typeface="DM Serif Display"/>
              </a:rPr>
              <a:t>Dynamic Topic Modeling</a:t>
            </a:r>
          </a:p>
        </p:txBody>
      </p:sp>
      <p:sp>
        <p:nvSpPr>
          <p:cNvPr id="5" name="TextBox 5"/>
          <p:cNvSpPr txBox="1"/>
          <p:nvPr/>
        </p:nvSpPr>
        <p:spPr>
          <a:xfrm>
            <a:off x="1028700" y="3081522"/>
            <a:ext cx="16230600" cy="3997325"/>
          </a:xfrm>
          <a:prstGeom prst="rect">
            <a:avLst/>
          </a:prstGeom>
        </p:spPr>
        <p:txBody>
          <a:bodyPr lIns="0" tIns="0" rIns="0" bIns="0" rtlCol="0" anchor="t">
            <a:spAutoFit/>
          </a:bodyPr>
          <a:lstStyle/>
          <a:p>
            <a:pPr marL="863599" lvl="1" indent="-431800" algn="l">
              <a:lnSpc>
                <a:spcPts val="6399"/>
              </a:lnSpc>
              <a:buFont typeface="Arial"/>
              <a:buChar char="•"/>
            </a:pPr>
            <a:r>
              <a:rPr lang="en-US" sz="3999" b="1">
                <a:solidFill>
                  <a:srgbClr val="000000"/>
                </a:solidFill>
                <a:latin typeface="Open Sauce Bold"/>
                <a:ea typeface="Open Sauce Bold"/>
                <a:cs typeface="Open Sauce Bold"/>
                <a:sym typeface="Open Sauce Bold"/>
              </a:rPr>
              <a:t>Dynamic topic modeling</a:t>
            </a:r>
            <a:r>
              <a:rPr lang="en-US" sz="3999">
                <a:solidFill>
                  <a:srgbClr val="000000"/>
                </a:solidFill>
                <a:latin typeface="Open Sauce"/>
                <a:ea typeface="Open Sauce"/>
                <a:cs typeface="Open Sauce"/>
                <a:sym typeface="Open Sauce"/>
              </a:rPr>
              <a:t> is an extension of traditional topic modeling (like LDA) that accounts for how topics change over time</a:t>
            </a:r>
          </a:p>
          <a:p>
            <a:pPr marL="1727199" lvl="2" indent="-575733" algn="l">
              <a:lnSpc>
                <a:spcPts val="6399"/>
              </a:lnSpc>
              <a:buFont typeface="Arial"/>
              <a:buChar char="⚬"/>
            </a:pPr>
            <a:r>
              <a:rPr lang="en-US" sz="3999">
                <a:solidFill>
                  <a:srgbClr val="000000"/>
                </a:solidFill>
                <a:latin typeface="Open Sauce"/>
                <a:ea typeface="Open Sauce"/>
                <a:cs typeface="Open Sauce"/>
                <a:sym typeface="Open Sauce"/>
              </a:rPr>
              <a:t>Shows how the vocabulary, framing, and salience of topics evolve instead of assuming topics are static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52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215169" y="1275716"/>
            <a:ext cx="10295903" cy="3706525"/>
          </a:xfrm>
          <a:custGeom>
            <a:avLst/>
            <a:gdLst/>
            <a:ahLst/>
            <a:cxnLst/>
            <a:rect l="l" t="t" r="r" b="b"/>
            <a:pathLst>
              <a:path w="10295903" h="3706525">
                <a:moveTo>
                  <a:pt x="0" y="0"/>
                </a:moveTo>
                <a:lnTo>
                  <a:pt x="10295904" y="0"/>
                </a:lnTo>
                <a:lnTo>
                  <a:pt x="10295904" y="3706525"/>
                </a:lnTo>
                <a:lnTo>
                  <a:pt x="0" y="3706525"/>
                </a:lnTo>
                <a:lnTo>
                  <a:pt x="0" y="0"/>
                </a:lnTo>
                <a:close/>
              </a:path>
            </a:pathLst>
          </a:custGeom>
          <a:blipFill>
            <a:blip r:embed="rId3"/>
            <a:stretch>
              <a:fillRect/>
            </a:stretch>
          </a:blipFill>
        </p:spPr>
        <p:txBody>
          <a:bodyPr/>
          <a:lstStyle/>
          <a:p>
            <a:endParaRPr lang="en-US"/>
          </a:p>
        </p:txBody>
      </p:sp>
      <p:sp>
        <p:nvSpPr>
          <p:cNvPr id="4" name="Freeform 4"/>
          <p:cNvSpPr/>
          <p:nvPr/>
        </p:nvSpPr>
        <p:spPr>
          <a:xfrm>
            <a:off x="7760927" y="1275716"/>
            <a:ext cx="10295903" cy="3706525"/>
          </a:xfrm>
          <a:custGeom>
            <a:avLst/>
            <a:gdLst/>
            <a:ahLst/>
            <a:cxnLst/>
            <a:rect l="l" t="t" r="r" b="b"/>
            <a:pathLst>
              <a:path w="10295903" h="3706525">
                <a:moveTo>
                  <a:pt x="0" y="0"/>
                </a:moveTo>
                <a:lnTo>
                  <a:pt x="10295903" y="0"/>
                </a:lnTo>
                <a:lnTo>
                  <a:pt x="10295903" y="3706525"/>
                </a:lnTo>
                <a:lnTo>
                  <a:pt x="0" y="3706525"/>
                </a:lnTo>
                <a:lnTo>
                  <a:pt x="0" y="0"/>
                </a:lnTo>
                <a:close/>
              </a:path>
            </a:pathLst>
          </a:custGeom>
          <a:blipFill>
            <a:blip r:embed="rId4"/>
            <a:stretch>
              <a:fillRect/>
            </a:stretch>
          </a:blipFill>
        </p:spPr>
        <p:txBody>
          <a:bodyPr/>
          <a:lstStyle/>
          <a:p>
            <a:endParaRPr lang="en-US"/>
          </a:p>
        </p:txBody>
      </p:sp>
      <p:sp>
        <p:nvSpPr>
          <p:cNvPr id="5" name="Freeform 5"/>
          <p:cNvSpPr/>
          <p:nvPr/>
        </p:nvSpPr>
        <p:spPr>
          <a:xfrm>
            <a:off x="3491487" y="6178015"/>
            <a:ext cx="11816700" cy="4254012"/>
          </a:xfrm>
          <a:custGeom>
            <a:avLst/>
            <a:gdLst/>
            <a:ahLst/>
            <a:cxnLst/>
            <a:rect l="l" t="t" r="r" b="b"/>
            <a:pathLst>
              <a:path w="11816700" h="4254012">
                <a:moveTo>
                  <a:pt x="0" y="0"/>
                </a:moveTo>
                <a:lnTo>
                  <a:pt x="11816700" y="0"/>
                </a:lnTo>
                <a:lnTo>
                  <a:pt x="11816700" y="4254012"/>
                </a:lnTo>
                <a:lnTo>
                  <a:pt x="0" y="4254012"/>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981200" y="331420"/>
            <a:ext cx="3123275" cy="580390"/>
          </a:xfrm>
          <a:prstGeom prst="rect">
            <a:avLst/>
          </a:prstGeom>
        </p:spPr>
        <p:txBody>
          <a:bodyPr wrap="square"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r/immigration</a:t>
            </a:r>
          </a:p>
        </p:txBody>
      </p:sp>
      <p:sp>
        <p:nvSpPr>
          <p:cNvPr id="7" name="TextBox 7"/>
          <p:cNvSpPr txBox="1"/>
          <p:nvPr/>
        </p:nvSpPr>
        <p:spPr>
          <a:xfrm>
            <a:off x="10692160" y="331420"/>
            <a:ext cx="4616026"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r/politicaldiscussion</a:t>
            </a:r>
          </a:p>
        </p:txBody>
      </p:sp>
      <p:sp>
        <p:nvSpPr>
          <p:cNvPr id="8" name="TextBox 8"/>
          <p:cNvSpPr txBox="1"/>
          <p:nvPr/>
        </p:nvSpPr>
        <p:spPr>
          <a:xfrm>
            <a:off x="5747174" y="5256595"/>
            <a:ext cx="4616026" cy="580390"/>
          </a:xfrm>
          <a:prstGeom prst="rect">
            <a:avLst/>
          </a:prstGeom>
        </p:spPr>
        <p:txBody>
          <a:bodyPr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r/politics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166399" y="1214775"/>
            <a:ext cx="15525470" cy="1226821"/>
          </a:xfrm>
          <a:prstGeom prst="rect">
            <a:avLst/>
          </a:prstGeom>
        </p:spPr>
        <p:txBody>
          <a:bodyPr lIns="0" tIns="0" rIns="0" bIns="0" rtlCol="0" anchor="t">
            <a:spAutoFit/>
          </a:bodyPr>
          <a:lstStyle/>
          <a:p>
            <a:pPr algn="l">
              <a:lnSpc>
                <a:spcPts val="10079"/>
              </a:lnSpc>
            </a:pPr>
            <a:r>
              <a:rPr lang="en-US" sz="7199">
                <a:solidFill>
                  <a:srgbClr val="000000"/>
                </a:solidFill>
                <a:latin typeface="DM Serif Display"/>
                <a:ea typeface="DM Serif Display"/>
                <a:cs typeface="DM Serif Display"/>
                <a:sym typeface="DM Serif Display"/>
              </a:rPr>
              <a:t>Co-Occurence Networks</a:t>
            </a:r>
          </a:p>
        </p:txBody>
      </p:sp>
      <p:sp>
        <p:nvSpPr>
          <p:cNvPr id="5" name="TextBox 5"/>
          <p:cNvSpPr txBox="1"/>
          <p:nvPr/>
        </p:nvSpPr>
        <p:spPr>
          <a:xfrm>
            <a:off x="1028700" y="2944331"/>
            <a:ext cx="15385249" cy="6192012"/>
          </a:xfrm>
          <a:prstGeom prst="rect">
            <a:avLst/>
          </a:prstGeom>
        </p:spPr>
        <p:txBody>
          <a:bodyPr lIns="0" tIns="0" rIns="0" bIns="0" rtlCol="0" anchor="t">
            <a:spAutoFit/>
          </a:bodyPr>
          <a:lstStyle/>
          <a:p>
            <a:pPr marL="712470" lvl="1" indent="-356235" algn="l">
              <a:lnSpc>
                <a:spcPts val="6204"/>
              </a:lnSpc>
              <a:buFont typeface="Arial"/>
              <a:buChar char="•"/>
            </a:pPr>
            <a:r>
              <a:rPr lang="en-US" sz="3300">
                <a:solidFill>
                  <a:srgbClr val="000000"/>
                </a:solidFill>
                <a:latin typeface="Open Sauce"/>
                <a:ea typeface="Open Sauce"/>
                <a:cs typeface="Open Sauce"/>
                <a:sym typeface="Open Sauce"/>
              </a:rPr>
              <a:t>Visual makes the structure of discourse visible in a way that simple frequency counts (like word clouds) cannot.</a:t>
            </a:r>
          </a:p>
          <a:p>
            <a:pPr marL="1424940" lvl="2" indent="-474980" algn="l">
              <a:lnSpc>
                <a:spcPts val="6204"/>
              </a:lnSpc>
              <a:buFont typeface="Arial"/>
              <a:buChar char="⚬"/>
            </a:pPr>
            <a:r>
              <a:rPr lang="en-US" sz="3300">
                <a:solidFill>
                  <a:srgbClr val="000000"/>
                </a:solidFill>
                <a:latin typeface="Open Sauce"/>
                <a:ea typeface="Open Sauce"/>
                <a:cs typeface="Open Sauce"/>
                <a:sym typeface="Open Sauce"/>
              </a:rPr>
              <a:t>Highlights clusters of words that tend to appear together in the same Reddit comments or posts</a:t>
            </a:r>
          </a:p>
          <a:p>
            <a:pPr marL="2137410" lvl="3" indent="-534352" algn="l">
              <a:lnSpc>
                <a:spcPts val="6204"/>
              </a:lnSpc>
              <a:buFont typeface="Arial"/>
              <a:buChar char="￭"/>
            </a:pPr>
            <a:r>
              <a:rPr lang="en-US" sz="3300">
                <a:solidFill>
                  <a:srgbClr val="000000"/>
                </a:solidFill>
                <a:latin typeface="Open Sauce"/>
                <a:ea typeface="Open Sauce"/>
                <a:cs typeface="Open Sauce"/>
                <a:sym typeface="Open Sauce"/>
              </a:rPr>
              <a:t>A line appears if two words occur together in the same unit of text (like the same Reddit comment) above a chosen threshold</a:t>
            </a:r>
          </a:p>
          <a:p>
            <a:pPr marL="1424940" lvl="2" indent="-474980" algn="l">
              <a:lnSpc>
                <a:spcPts val="6204"/>
              </a:lnSpc>
              <a:buFont typeface="Arial"/>
              <a:buChar char="⚬"/>
            </a:pPr>
            <a:r>
              <a:rPr lang="en-US" sz="3300">
                <a:solidFill>
                  <a:srgbClr val="000000"/>
                </a:solidFill>
                <a:latin typeface="Open Sauce"/>
                <a:ea typeface="Open Sauce"/>
                <a:cs typeface="Open Sauce"/>
                <a:sym typeface="Open Sauce"/>
              </a:rPr>
              <a:t>Each colored cluster represents a theme in discourse</a:t>
            </a:r>
          </a:p>
          <a:p>
            <a:pPr marL="1424940" lvl="2" indent="-474980" algn="l">
              <a:lnSpc>
                <a:spcPts val="6204"/>
              </a:lnSpc>
              <a:buFont typeface="Arial"/>
              <a:buChar char="⚬"/>
            </a:pPr>
            <a:r>
              <a:rPr lang="en-US" sz="3300">
                <a:solidFill>
                  <a:srgbClr val="000000"/>
                </a:solidFill>
                <a:latin typeface="Open Sauce"/>
                <a:ea typeface="Open Sauce"/>
                <a:cs typeface="Open Sauce"/>
                <a:sym typeface="Open Sauce"/>
              </a:rPr>
              <a:t>Some words are in the center connecting multiple themes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52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147079" y="148816"/>
            <a:ext cx="6634721" cy="5299484"/>
          </a:xfrm>
          <a:custGeom>
            <a:avLst/>
            <a:gdLst/>
            <a:ahLst/>
            <a:cxnLst/>
            <a:rect l="l" t="t" r="r" b="b"/>
            <a:pathLst>
              <a:path w="6634721" h="5299484">
                <a:moveTo>
                  <a:pt x="0" y="0"/>
                </a:moveTo>
                <a:lnTo>
                  <a:pt x="6634721" y="0"/>
                </a:lnTo>
                <a:lnTo>
                  <a:pt x="6634721" y="5299484"/>
                </a:lnTo>
                <a:lnTo>
                  <a:pt x="0" y="5299484"/>
                </a:lnTo>
                <a:lnTo>
                  <a:pt x="0" y="0"/>
                </a:lnTo>
                <a:close/>
              </a:path>
            </a:pathLst>
          </a:custGeom>
          <a:blipFill>
            <a:blip r:embed="rId3"/>
            <a:stretch>
              <a:fillRect/>
            </a:stretch>
          </a:blipFill>
        </p:spPr>
        <p:txBody>
          <a:bodyPr/>
          <a:lstStyle/>
          <a:p>
            <a:endParaRPr lang="en-US"/>
          </a:p>
        </p:txBody>
      </p:sp>
      <p:sp>
        <p:nvSpPr>
          <p:cNvPr id="4" name="Freeform 4"/>
          <p:cNvSpPr/>
          <p:nvPr/>
        </p:nvSpPr>
        <p:spPr>
          <a:xfrm>
            <a:off x="11656634" y="0"/>
            <a:ext cx="6631366" cy="5297047"/>
          </a:xfrm>
          <a:custGeom>
            <a:avLst/>
            <a:gdLst/>
            <a:ahLst/>
            <a:cxnLst/>
            <a:rect l="l" t="t" r="r" b="b"/>
            <a:pathLst>
              <a:path w="6631366" h="5297047">
                <a:moveTo>
                  <a:pt x="0" y="0"/>
                </a:moveTo>
                <a:lnTo>
                  <a:pt x="6631366" y="0"/>
                </a:lnTo>
                <a:lnTo>
                  <a:pt x="6631366" y="5297047"/>
                </a:lnTo>
                <a:lnTo>
                  <a:pt x="0" y="5297047"/>
                </a:lnTo>
                <a:lnTo>
                  <a:pt x="0" y="0"/>
                </a:lnTo>
                <a:close/>
              </a:path>
            </a:pathLst>
          </a:custGeom>
          <a:blipFill>
            <a:blip r:embed="rId4"/>
            <a:stretch>
              <a:fillRect/>
            </a:stretch>
          </a:blipFill>
        </p:spPr>
        <p:txBody>
          <a:bodyPr/>
          <a:lstStyle/>
          <a:p>
            <a:endParaRPr lang="en-US"/>
          </a:p>
        </p:txBody>
      </p:sp>
      <p:sp>
        <p:nvSpPr>
          <p:cNvPr id="5" name="Freeform 5"/>
          <p:cNvSpPr/>
          <p:nvPr/>
        </p:nvSpPr>
        <p:spPr>
          <a:xfrm>
            <a:off x="5479352" y="4157447"/>
            <a:ext cx="7684258" cy="6138083"/>
          </a:xfrm>
          <a:custGeom>
            <a:avLst/>
            <a:gdLst/>
            <a:ahLst/>
            <a:cxnLst/>
            <a:rect l="l" t="t" r="r" b="b"/>
            <a:pathLst>
              <a:path w="7684258" h="6138083">
                <a:moveTo>
                  <a:pt x="0" y="0"/>
                </a:moveTo>
                <a:lnTo>
                  <a:pt x="7684258" y="0"/>
                </a:lnTo>
                <a:lnTo>
                  <a:pt x="7684258" y="6138082"/>
                </a:lnTo>
                <a:lnTo>
                  <a:pt x="0" y="6138082"/>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592064" y="5436420"/>
            <a:ext cx="3056136" cy="580390"/>
          </a:xfrm>
          <a:prstGeom prst="rect">
            <a:avLst/>
          </a:prstGeom>
        </p:spPr>
        <p:txBody>
          <a:bodyPr wrap="square"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r/immigration</a:t>
            </a:r>
          </a:p>
        </p:txBody>
      </p:sp>
      <p:sp>
        <p:nvSpPr>
          <p:cNvPr id="7" name="TextBox 7"/>
          <p:cNvSpPr txBox="1"/>
          <p:nvPr/>
        </p:nvSpPr>
        <p:spPr>
          <a:xfrm>
            <a:off x="13639800" y="5436420"/>
            <a:ext cx="4412289" cy="580390"/>
          </a:xfrm>
          <a:prstGeom prst="rect">
            <a:avLst/>
          </a:prstGeom>
        </p:spPr>
        <p:txBody>
          <a:bodyPr wrap="square"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r/</a:t>
            </a:r>
            <a:r>
              <a:rPr lang="en-US" sz="3399" dirty="0" err="1">
                <a:solidFill>
                  <a:srgbClr val="000000"/>
                </a:solidFill>
                <a:latin typeface="Canva Sans"/>
                <a:ea typeface="Canva Sans"/>
                <a:cs typeface="Canva Sans"/>
                <a:sym typeface="Canva Sans"/>
              </a:rPr>
              <a:t>politicaldiscussion</a:t>
            </a:r>
            <a:endParaRPr lang="en-US" sz="3399" dirty="0">
              <a:solidFill>
                <a:srgbClr val="000000"/>
              </a:solidFill>
              <a:latin typeface="Canva Sans"/>
              <a:ea typeface="Canva Sans"/>
              <a:cs typeface="Canva Sans"/>
              <a:sym typeface="Canva Sans"/>
            </a:endParaRPr>
          </a:p>
        </p:txBody>
      </p:sp>
      <p:sp>
        <p:nvSpPr>
          <p:cNvPr id="8" name="TextBox 8"/>
          <p:cNvSpPr txBox="1"/>
          <p:nvPr/>
        </p:nvSpPr>
        <p:spPr>
          <a:xfrm>
            <a:off x="1302193" y="9552497"/>
            <a:ext cx="4177159"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r/politics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52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2312729" y="8529"/>
            <a:ext cx="12889552" cy="10295529"/>
          </a:xfrm>
          <a:custGeom>
            <a:avLst/>
            <a:gdLst/>
            <a:ahLst/>
            <a:cxnLst/>
            <a:rect l="l" t="t" r="r" b="b"/>
            <a:pathLst>
              <a:path w="12889552" h="10295529">
                <a:moveTo>
                  <a:pt x="0" y="0"/>
                </a:moveTo>
                <a:lnTo>
                  <a:pt x="12889552" y="0"/>
                </a:lnTo>
                <a:lnTo>
                  <a:pt x="12889552" y="10295530"/>
                </a:lnTo>
                <a:lnTo>
                  <a:pt x="0" y="1029553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2133600" y="9639301"/>
            <a:ext cx="2234208" cy="258725"/>
          </a:xfrm>
          <a:prstGeom prst="rect">
            <a:avLst/>
          </a:prstGeom>
        </p:spPr>
        <p:txBody>
          <a:bodyPr wrap="square" lIns="0" tIns="0" rIns="0" bIns="0" rtlCol="0" anchor="t">
            <a:spAutoFit/>
          </a:bodyPr>
          <a:lstStyle/>
          <a:p>
            <a:pPr algn="ctr">
              <a:lnSpc>
                <a:spcPts val="2239"/>
              </a:lnSpc>
              <a:spcBef>
                <a:spcPct val="0"/>
              </a:spcBef>
            </a:pPr>
            <a:r>
              <a:rPr lang="en-US" sz="1599" b="1" spc="159" dirty="0">
                <a:solidFill>
                  <a:srgbClr val="000000"/>
                </a:solidFill>
                <a:latin typeface="Open Sauce Bold"/>
                <a:ea typeface="Open Sauce Bold"/>
                <a:cs typeface="Open Sauce Bold"/>
                <a:sym typeface="Open Sauce Bold"/>
              </a:rPr>
              <a:t>R/IMMIGRATION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52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2322301" y="0"/>
            <a:ext cx="12878873" cy="10287000"/>
          </a:xfrm>
          <a:custGeom>
            <a:avLst/>
            <a:gdLst/>
            <a:ahLst/>
            <a:cxnLst/>
            <a:rect l="l" t="t" r="r" b="b"/>
            <a:pathLst>
              <a:path w="12878873" h="10287000">
                <a:moveTo>
                  <a:pt x="0" y="0"/>
                </a:moveTo>
                <a:lnTo>
                  <a:pt x="12878873" y="0"/>
                </a:lnTo>
                <a:lnTo>
                  <a:pt x="12878873" y="10287000"/>
                </a:lnTo>
                <a:lnTo>
                  <a:pt x="0" y="1028700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447800" y="9213215"/>
            <a:ext cx="3113633" cy="273685"/>
          </a:xfrm>
          <a:prstGeom prst="rect">
            <a:avLst/>
          </a:prstGeom>
        </p:spPr>
        <p:txBody>
          <a:bodyPr lIns="0" tIns="0" rIns="0" bIns="0" rtlCol="0" anchor="t">
            <a:spAutoFit/>
          </a:bodyPr>
          <a:lstStyle/>
          <a:p>
            <a:pPr algn="ctr">
              <a:lnSpc>
                <a:spcPts val="2239"/>
              </a:lnSpc>
              <a:spcBef>
                <a:spcPct val="0"/>
              </a:spcBef>
            </a:pPr>
            <a:r>
              <a:rPr lang="en-US" sz="1599" b="1" spc="159" dirty="0">
                <a:solidFill>
                  <a:srgbClr val="000000"/>
                </a:solidFill>
                <a:latin typeface="Open Sauce Bold"/>
                <a:ea typeface="Open Sauce Bold"/>
                <a:cs typeface="Open Sauce Bold"/>
                <a:sym typeface="Open Sauce Bold"/>
              </a:rPr>
              <a:t>R/POLITICAL DISCUSSION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52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Freeform 3"/>
          <p:cNvSpPr/>
          <p:nvPr/>
        </p:nvSpPr>
        <p:spPr>
          <a:xfrm>
            <a:off x="2357875" y="17059"/>
            <a:ext cx="12868195" cy="10278471"/>
          </a:xfrm>
          <a:custGeom>
            <a:avLst/>
            <a:gdLst/>
            <a:ahLst/>
            <a:cxnLst/>
            <a:rect l="l" t="t" r="r" b="b"/>
            <a:pathLst>
              <a:path w="12868195" h="10278471">
                <a:moveTo>
                  <a:pt x="0" y="0"/>
                </a:moveTo>
                <a:lnTo>
                  <a:pt x="12868195" y="0"/>
                </a:lnTo>
                <a:lnTo>
                  <a:pt x="12868195" y="10278470"/>
                </a:lnTo>
                <a:lnTo>
                  <a:pt x="0" y="1027847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52568" y="9486900"/>
            <a:ext cx="1690632" cy="258725"/>
          </a:xfrm>
          <a:prstGeom prst="rect">
            <a:avLst/>
          </a:prstGeom>
        </p:spPr>
        <p:txBody>
          <a:bodyPr wrap="square" lIns="0" tIns="0" rIns="0" bIns="0" rtlCol="0" anchor="t">
            <a:spAutoFit/>
          </a:bodyPr>
          <a:lstStyle/>
          <a:p>
            <a:pPr algn="ctr">
              <a:lnSpc>
                <a:spcPts val="2239"/>
              </a:lnSpc>
              <a:spcBef>
                <a:spcPct val="0"/>
              </a:spcBef>
            </a:pPr>
            <a:r>
              <a:rPr lang="en-US" sz="1599" b="1" spc="159" dirty="0">
                <a:solidFill>
                  <a:srgbClr val="000000"/>
                </a:solidFill>
                <a:latin typeface="Open Sauce Bold"/>
                <a:ea typeface="Open Sauce Bold"/>
                <a:cs typeface="Open Sauce Bold"/>
                <a:sym typeface="Open Sauce Bold"/>
              </a:rPr>
              <a:t>R/POLITICS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166399" y="1233825"/>
            <a:ext cx="11715073"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Key Takeaways</a:t>
            </a:r>
          </a:p>
        </p:txBody>
      </p:sp>
      <p:sp>
        <p:nvSpPr>
          <p:cNvPr id="5" name="TextBox 5"/>
          <p:cNvSpPr txBox="1"/>
          <p:nvPr/>
        </p:nvSpPr>
        <p:spPr>
          <a:xfrm>
            <a:off x="1166399" y="2640936"/>
            <a:ext cx="15385249" cy="5299711"/>
          </a:xfrm>
          <a:prstGeom prst="rect">
            <a:avLst/>
          </a:prstGeom>
        </p:spPr>
        <p:txBody>
          <a:bodyPr lIns="0" tIns="0" rIns="0" bIns="0" rtlCol="0" anchor="t">
            <a:spAutoFit/>
          </a:bodyPr>
          <a:lstStyle/>
          <a:p>
            <a:pPr marL="712467" lvl="1" indent="-356233" algn="l">
              <a:lnSpc>
                <a:spcPts val="5279"/>
              </a:lnSpc>
              <a:buFont typeface="Arial"/>
              <a:buChar char="•"/>
            </a:pPr>
            <a:r>
              <a:rPr lang="en-US" sz="3299">
                <a:solidFill>
                  <a:srgbClr val="000000"/>
                </a:solidFill>
                <a:latin typeface="Open Sauce"/>
                <a:ea typeface="Open Sauce"/>
                <a:cs typeface="Open Sauce"/>
                <a:sym typeface="Open Sauce"/>
              </a:rPr>
              <a:t>This is exploratory work so far, but as the data shows, there has been sharp increases on discussion about immigration on Reddit and major shifts in the emotions.</a:t>
            </a:r>
          </a:p>
          <a:p>
            <a:pPr algn="l">
              <a:lnSpc>
                <a:spcPts val="5279"/>
              </a:lnSpc>
            </a:pPr>
            <a:endParaRPr lang="en-US" sz="3299">
              <a:solidFill>
                <a:srgbClr val="000000"/>
              </a:solidFill>
              <a:latin typeface="Open Sauce"/>
              <a:ea typeface="Open Sauce"/>
              <a:cs typeface="Open Sauce"/>
              <a:sym typeface="Open Sauce"/>
            </a:endParaRPr>
          </a:p>
          <a:p>
            <a:pPr marL="712467" lvl="1" indent="-356233" algn="l">
              <a:lnSpc>
                <a:spcPts val="5279"/>
              </a:lnSpc>
              <a:buFont typeface="Arial"/>
              <a:buChar char="•"/>
            </a:pPr>
            <a:r>
              <a:rPr lang="en-US" sz="3299">
                <a:solidFill>
                  <a:srgbClr val="000000"/>
                </a:solidFill>
                <a:latin typeface="Open Sauce"/>
                <a:ea typeface="Open Sauce"/>
                <a:cs typeface="Open Sauce"/>
                <a:sym typeface="Open Sauce"/>
              </a:rPr>
              <a:t>We hope to expand on this by collecting data from more subreddits (e.g., ones dominated by women; more general subreddits that are not focused on politics). We also need to fine-tune some models.</a:t>
            </a:r>
          </a:p>
          <a:p>
            <a:pPr algn="l">
              <a:lnSpc>
                <a:spcPts val="5279"/>
              </a:lnSpc>
            </a:pPr>
            <a:endParaRPr lang="en-US" sz="3299">
              <a:solidFill>
                <a:srgbClr val="000000"/>
              </a:solidFill>
              <a:latin typeface="Open Sauce"/>
              <a:ea typeface="Open Sauce"/>
              <a:cs typeface="Open Sauce"/>
              <a:sym typeface="Open Sauce"/>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166399" y="1233825"/>
            <a:ext cx="11715073"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Future Directions</a:t>
            </a:r>
          </a:p>
        </p:txBody>
      </p:sp>
      <p:sp>
        <p:nvSpPr>
          <p:cNvPr id="5" name="TextBox 5"/>
          <p:cNvSpPr txBox="1"/>
          <p:nvPr/>
        </p:nvSpPr>
        <p:spPr>
          <a:xfrm>
            <a:off x="1166399" y="2650461"/>
            <a:ext cx="15385249" cy="6774815"/>
          </a:xfrm>
          <a:prstGeom prst="rect">
            <a:avLst/>
          </a:prstGeom>
        </p:spPr>
        <p:txBody>
          <a:bodyPr lIns="0" tIns="0" rIns="0" bIns="0" rtlCol="0" anchor="t">
            <a:spAutoFit/>
          </a:bodyPr>
          <a:lstStyle/>
          <a:p>
            <a:pPr marL="669288" lvl="1" indent="-334644" algn="l">
              <a:lnSpc>
                <a:spcPts val="4959"/>
              </a:lnSpc>
              <a:buFont typeface="Arial"/>
              <a:buChar char="•"/>
            </a:pPr>
            <a:r>
              <a:rPr lang="en-US" sz="3099">
                <a:solidFill>
                  <a:srgbClr val="000000"/>
                </a:solidFill>
                <a:latin typeface="Open Sauce"/>
                <a:ea typeface="Open Sauce"/>
                <a:cs typeface="Open Sauce"/>
                <a:sym typeface="Open Sauce"/>
              </a:rPr>
              <a:t>In the future, we want a longer timeline essentially on the evolution of immigration discourse on Reddit.</a:t>
            </a:r>
          </a:p>
          <a:p>
            <a:pPr marL="1338576" lvl="2" indent="-446192" algn="l">
              <a:lnSpc>
                <a:spcPts val="4959"/>
              </a:lnSpc>
              <a:buFont typeface="Arial"/>
              <a:buChar char="⚬"/>
            </a:pPr>
            <a:r>
              <a:rPr lang="en-US" sz="3099">
                <a:solidFill>
                  <a:srgbClr val="000000"/>
                </a:solidFill>
                <a:latin typeface="Open Sauce"/>
                <a:ea typeface="Open Sauce"/>
                <a:cs typeface="Open Sauce"/>
                <a:sym typeface="Open Sauce"/>
              </a:rPr>
              <a:t>We will look at other datasets as well.</a:t>
            </a:r>
          </a:p>
          <a:p>
            <a:pPr marL="1338576" lvl="2" indent="-446192" algn="l">
              <a:lnSpc>
                <a:spcPts val="4959"/>
              </a:lnSpc>
              <a:buFont typeface="Arial"/>
              <a:buChar char="⚬"/>
            </a:pPr>
            <a:r>
              <a:rPr lang="en-US" sz="3099">
                <a:solidFill>
                  <a:srgbClr val="000000"/>
                </a:solidFill>
                <a:latin typeface="Open Sauce"/>
                <a:ea typeface="Open Sauce"/>
                <a:cs typeface="Open Sauce"/>
                <a:sym typeface="Open Sauce"/>
              </a:rPr>
              <a:t>While Internet discourse does not constitute action, studying discourse can still give us insight into how resistance to government actions/policies may change and stabilize over time in the online sphere.</a:t>
            </a:r>
          </a:p>
          <a:p>
            <a:pPr algn="l">
              <a:lnSpc>
                <a:spcPts val="4959"/>
              </a:lnSpc>
            </a:pPr>
            <a:endParaRPr lang="en-US" sz="3099">
              <a:solidFill>
                <a:srgbClr val="000000"/>
              </a:solidFill>
              <a:latin typeface="Open Sauce"/>
              <a:ea typeface="Open Sauce"/>
              <a:cs typeface="Open Sauce"/>
              <a:sym typeface="Open Sauce"/>
            </a:endParaRPr>
          </a:p>
          <a:p>
            <a:pPr marL="669288" lvl="1" indent="-334644" algn="l">
              <a:lnSpc>
                <a:spcPts val="4959"/>
              </a:lnSpc>
              <a:buFont typeface="Arial"/>
              <a:buChar char="•"/>
            </a:pPr>
            <a:r>
              <a:rPr lang="en-US" sz="3099">
                <a:solidFill>
                  <a:srgbClr val="000000"/>
                </a:solidFill>
                <a:latin typeface="Open Sauce"/>
                <a:ea typeface="Open Sauce"/>
                <a:cs typeface="Open Sauce"/>
                <a:sym typeface="Open Sauce"/>
              </a:rPr>
              <a:t>For the models:</a:t>
            </a:r>
          </a:p>
          <a:p>
            <a:pPr marL="1338576" lvl="2" indent="-446192" algn="l">
              <a:lnSpc>
                <a:spcPts val="4959"/>
              </a:lnSpc>
              <a:buFont typeface="Arial"/>
              <a:buChar char="⚬"/>
            </a:pPr>
            <a:r>
              <a:rPr lang="en-US" sz="3099">
                <a:solidFill>
                  <a:srgbClr val="000000"/>
                </a:solidFill>
                <a:latin typeface="Open Sauce"/>
                <a:ea typeface="Open Sauce"/>
                <a:cs typeface="Open Sauce"/>
                <a:sym typeface="Open Sauce"/>
              </a:rPr>
              <a:t>Lemmatization and stemming for text processing</a:t>
            </a:r>
          </a:p>
          <a:p>
            <a:pPr algn="l">
              <a:lnSpc>
                <a:spcPts val="4639"/>
              </a:lnSpc>
            </a:pPr>
            <a:endParaRPr lang="en-US" sz="3099">
              <a:solidFill>
                <a:srgbClr val="000000"/>
              </a:solidFill>
              <a:latin typeface="Open Sauce"/>
              <a:ea typeface="Open Sauce"/>
              <a:cs typeface="Open Sauce"/>
              <a:sym typeface="Open Sauce"/>
            </a:endParaRPr>
          </a:p>
          <a:p>
            <a:pPr algn="l">
              <a:lnSpc>
                <a:spcPts val="4479"/>
              </a:lnSpc>
            </a:pPr>
            <a:endParaRPr lang="en-US" sz="3099">
              <a:solidFill>
                <a:srgbClr val="000000"/>
              </a:solidFill>
              <a:latin typeface="Open Sauce"/>
              <a:ea typeface="Open Sauce"/>
              <a:cs typeface="Open Sauce"/>
              <a:sym typeface="Open Sauce"/>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US"/>
          </a:p>
        </p:txBody>
      </p:sp>
      <p:sp>
        <p:nvSpPr>
          <p:cNvPr id="3" name="TextBox 3"/>
          <p:cNvSpPr txBox="1"/>
          <p:nvPr/>
        </p:nvSpPr>
        <p:spPr>
          <a:xfrm>
            <a:off x="2578999" y="2427706"/>
            <a:ext cx="13130002" cy="1708151"/>
          </a:xfrm>
          <a:prstGeom prst="rect">
            <a:avLst/>
          </a:prstGeom>
        </p:spPr>
        <p:txBody>
          <a:bodyPr lIns="0" tIns="0" rIns="0" bIns="0" rtlCol="0" anchor="t">
            <a:spAutoFit/>
          </a:bodyPr>
          <a:lstStyle/>
          <a:p>
            <a:pPr algn="ctr">
              <a:lnSpc>
                <a:spcPts val="13999"/>
              </a:lnSpc>
            </a:pPr>
            <a:r>
              <a:rPr lang="en-US" sz="9999">
                <a:solidFill>
                  <a:srgbClr val="000000"/>
                </a:solidFill>
                <a:latin typeface="DM Serif Display"/>
                <a:ea typeface="DM Serif Display"/>
                <a:cs typeface="DM Serif Display"/>
                <a:sym typeface="DM Serif Display"/>
              </a:rPr>
              <a:t>Thanks for listening!</a:t>
            </a:r>
          </a:p>
        </p:txBody>
      </p:sp>
      <p:sp>
        <p:nvSpPr>
          <p:cNvPr id="4" name="TextBox 4"/>
          <p:cNvSpPr txBox="1"/>
          <p:nvPr/>
        </p:nvSpPr>
        <p:spPr>
          <a:xfrm>
            <a:off x="4317443" y="4278397"/>
            <a:ext cx="9926914" cy="504825"/>
          </a:xfrm>
          <a:prstGeom prst="rect">
            <a:avLst/>
          </a:prstGeom>
        </p:spPr>
        <p:txBody>
          <a:bodyPr lIns="0" tIns="0" rIns="0" bIns="0" rtlCol="0" anchor="t">
            <a:spAutoFit/>
          </a:bodyPr>
          <a:lstStyle/>
          <a:p>
            <a:pPr algn="ctr">
              <a:lnSpc>
                <a:spcPts val="4199"/>
              </a:lnSpc>
              <a:spcBef>
                <a:spcPct val="0"/>
              </a:spcBef>
            </a:pPr>
            <a:r>
              <a:rPr lang="en-US" sz="2999" spc="299">
                <a:solidFill>
                  <a:srgbClr val="000000"/>
                </a:solidFill>
                <a:latin typeface="Open Sauce"/>
                <a:ea typeface="Open Sauce"/>
                <a:cs typeface="Open Sauce"/>
                <a:sym typeface="Open Sauce"/>
              </a:rPr>
              <a:t>ANY QUESTIONS? 🫵</a:t>
            </a:r>
          </a:p>
        </p:txBody>
      </p:sp>
      <p:sp>
        <p:nvSpPr>
          <p:cNvPr id="5" name="TextBox 5"/>
          <p:cNvSpPr txBox="1"/>
          <p:nvPr/>
        </p:nvSpPr>
        <p:spPr>
          <a:xfrm>
            <a:off x="6497905" y="6192248"/>
            <a:ext cx="5878903" cy="3347720"/>
          </a:xfrm>
          <a:prstGeom prst="rect">
            <a:avLst/>
          </a:prstGeom>
        </p:spPr>
        <p:txBody>
          <a:bodyPr lIns="0" tIns="0" rIns="0" bIns="0" rtlCol="0" anchor="t">
            <a:spAutoFit/>
          </a:bodyPr>
          <a:lstStyle/>
          <a:p>
            <a:pPr algn="ctr">
              <a:lnSpc>
                <a:spcPts val="4480"/>
              </a:lnSpc>
            </a:pPr>
            <a:r>
              <a:rPr lang="en-US" sz="3200">
                <a:solidFill>
                  <a:srgbClr val="000000">
                    <a:alpha val="49804"/>
                  </a:srgbClr>
                </a:solidFill>
                <a:latin typeface="DM Serif Display"/>
                <a:ea typeface="DM Serif Display"/>
                <a:cs typeface="DM Serif Display"/>
                <a:sym typeface="DM Serif Display"/>
              </a:rPr>
              <a:t>EMAILS: </a:t>
            </a:r>
          </a:p>
          <a:p>
            <a:pPr algn="ctr">
              <a:lnSpc>
                <a:spcPts val="4480"/>
              </a:lnSpc>
            </a:pPr>
            <a:r>
              <a:rPr lang="en-US" sz="3200">
                <a:solidFill>
                  <a:srgbClr val="000000">
                    <a:alpha val="49804"/>
                  </a:srgbClr>
                </a:solidFill>
                <a:latin typeface="DM Serif Display"/>
                <a:ea typeface="DM Serif Display"/>
                <a:cs typeface="DM Serif Display"/>
                <a:sym typeface="DM Serif Display"/>
              </a:rPr>
              <a:t>mmokarrama@niu.edu</a:t>
            </a:r>
          </a:p>
          <a:p>
            <a:pPr algn="ctr">
              <a:lnSpc>
                <a:spcPts val="4480"/>
              </a:lnSpc>
            </a:pPr>
            <a:r>
              <a:rPr lang="en-US" sz="3200">
                <a:solidFill>
                  <a:srgbClr val="000000">
                    <a:alpha val="49804"/>
                  </a:srgbClr>
                </a:solidFill>
                <a:latin typeface="DM Serif Display"/>
                <a:ea typeface="DM Serif Display"/>
                <a:cs typeface="DM Serif Display"/>
                <a:sym typeface="DM Serif Display"/>
              </a:rPr>
              <a:t>amoralesflores@ucsd.edu</a:t>
            </a:r>
          </a:p>
          <a:p>
            <a:pPr algn="ctr">
              <a:lnSpc>
                <a:spcPts val="4480"/>
              </a:lnSpc>
            </a:pPr>
            <a:r>
              <a:rPr lang="en-US" sz="3200">
                <a:solidFill>
                  <a:srgbClr val="000000">
                    <a:alpha val="49804"/>
                  </a:srgbClr>
                </a:solidFill>
                <a:latin typeface="DM Serif Display"/>
                <a:ea typeface="DM Serif Display"/>
                <a:cs typeface="DM Serif Display"/>
                <a:sym typeface="DM Serif Display"/>
              </a:rPr>
              <a:t>anguyentran@ucmerced.edu</a:t>
            </a:r>
          </a:p>
          <a:p>
            <a:pPr algn="ctr">
              <a:lnSpc>
                <a:spcPts val="4480"/>
              </a:lnSpc>
            </a:pPr>
            <a:endParaRPr lang="en-US" sz="3200">
              <a:solidFill>
                <a:srgbClr val="000000">
                  <a:alpha val="49804"/>
                </a:srgbClr>
              </a:solidFill>
              <a:latin typeface="DM Serif Display"/>
              <a:ea typeface="DM Serif Display"/>
              <a:cs typeface="DM Serif Display"/>
              <a:sym typeface="DM Serif Display"/>
            </a:endParaRPr>
          </a:p>
          <a:p>
            <a:pPr algn="ctr">
              <a:lnSpc>
                <a:spcPts val="4480"/>
              </a:lnSpc>
              <a:spcBef>
                <a:spcPct val="0"/>
              </a:spcBef>
            </a:pPr>
            <a:r>
              <a:rPr lang="en-US" sz="3200">
                <a:solidFill>
                  <a:srgbClr val="000000">
                    <a:alpha val="49804"/>
                  </a:srgbClr>
                </a:solidFill>
                <a:latin typeface="DM Serif Display"/>
                <a:ea typeface="DM Serif Display"/>
                <a:cs typeface="DM Serif Display"/>
                <a:sym typeface="DM Serif Display"/>
              </a:rPr>
              <a:t>GITHUB: Private for now!!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166399" y="1290975"/>
            <a:ext cx="5934952" cy="514350"/>
          </a:xfrm>
          <a:prstGeom prst="rect">
            <a:avLst/>
          </a:prstGeom>
        </p:spPr>
        <p:txBody>
          <a:bodyPr lIns="0" tIns="0" rIns="0" bIns="0" rtlCol="0" anchor="t">
            <a:spAutoFit/>
          </a:bodyPr>
          <a:lstStyle/>
          <a:p>
            <a:pPr algn="l">
              <a:lnSpc>
                <a:spcPts val="4200"/>
              </a:lnSpc>
            </a:pPr>
            <a:r>
              <a:rPr lang="en-US" sz="3000">
                <a:solidFill>
                  <a:srgbClr val="000000"/>
                </a:solidFill>
                <a:latin typeface="DM Serif Display"/>
                <a:ea typeface="DM Serif Display"/>
                <a:cs typeface="DM Serif Display"/>
                <a:sym typeface="DM Serif Display"/>
              </a:rPr>
              <a:t>References</a:t>
            </a:r>
          </a:p>
        </p:txBody>
      </p:sp>
      <p:sp>
        <p:nvSpPr>
          <p:cNvPr id="5" name="TextBox 5"/>
          <p:cNvSpPr txBox="1"/>
          <p:nvPr/>
        </p:nvSpPr>
        <p:spPr>
          <a:xfrm>
            <a:off x="880649" y="2112623"/>
            <a:ext cx="16240953" cy="7277735"/>
          </a:xfrm>
          <a:prstGeom prst="rect">
            <a:avLst/>
          </a:prstGeom>
        </p:spPr>
        <p:txBody>
          <a:bodyPr lIns="0" tIns="0" rIns="0" bIns="0" rtlCol="0" anchor="t">
            <a:spAutoFit/>
          </a:bodyPr>
          <a:lstStyle/>
          <a:p>
            <a:pPr algn="l">
              <a:lnSpc>
                <a:spcPts val="4479"/>
              </a:lnSpc>
            </a:pPr>
            <a:r>
              <a:rPr lang="en-US" sz="2799">
                <a:solidFill>
                  <a:srgbClr val="000000"/>
                </a:solidFill>
                <a:latin typeface="Open Sauce"/>
                <a:ea typeface="Open Sauce"/>
                <a:cs typeface="Open Sauce"/>
                <a:sym typeface="Open Sauce"/>
              </a:rPr>
              <a:t>Backlinko Team. 2025. “Reddit User and Growth Stats.” </a:t>
            </a:r>
            <a:r>
              <a:rPr lang="en-US" sz="2799" i="1">
                <a:solidFill>
                  <a:srgbClr val="000000"/>
                </a:solidFill>
                <a:latin typeface="Open Sauce Italics"/>
                <a:ea typeface="Open Sauce Italics"/>
                <a:cs typeface="Open Sauce Italics"/>
                <a:sym typeface="Open Sauce Italics"/>
              </a:rPr>
              <a:t>BackLinko</a:t>
            </a:r>
            <a:r>
              <a:rPr lang="en-US" sz="2799">
                <a:solidFill>
                  <a:srgbClr val="000000"/>
                </a:solidFill>
                <a:latin typeface="Open Sauce"/>
                <a:ea typeface="Open Sauce"/>
                <a:cs typeface="Open Sauce"/>
                <a:sym typeface="Open Sauce"/>
              </a:rPr>
              <a:t>, August 4. https://backlinko.com/reddit-users.</a:t>
            </a:r>
          </a:p>
          <a:p>
            <a:pPr algn="l">
              <a:lnSpc>
                <a:spcPts val="4479"/>
              </a:lnSpc>
            </a:pPr>
            <a:endParaRPr lang="en-US" sz="2799">
              <a:solidFill>
                <a:srgbClr val="000000"/>
              </a:solidFill>
              <a:latin typeface="Open Sauce"/>
              <a:ea typeface="Open Sauce"/>
              <a:cs typeface="Open Sauce"/>
              <a:sym typeface="Open Sauce"/>
            </a:endParaRPr>
          </a:p>
          <a:p>
            <a:pPr algn="l">
              <a:lnSpc>
                <a:spcPts val="4479"/>
              </a:lnSpc>
            </a:pPr>
            <a:r>
              <a:rPr lang="en-US" sz="2799">
                <a:solidFill>
                  <a:srgbClr val="000000"/>
                </a:solidFill>
                <a:latin typeface="Open Sauce"/>
                <a:ea typeface="Open Sauce"/>
                <a:cs typeface="Open Sauce"/>
                <a:sym typeface="Open Sauce"/>
              </a:rPr>
              <a:t>Duarte, Fabio. 2025. “Reddit User Age, Gender, &amp; Demographics (2025).” </a:t>
            </a:r>
            <a:r>
              <a:rPr lang="en-US" sz="2799" i="1">
                <a:solidFill>
                  <a:srgbClr val="000000"/>
                </a:solidFill>
                <a:latin typeface="Open Sauce Italics"/>
                <a:ea typeface="Open Sauce Italics"/>
                <a:cs typeface="Open Sauce Italics"/>
                <a:sym typeface="Open Sauce Italics"/>
              </a:rPr>
              <a:t>ExplodingTopics</a:t>
            </a:r>
            <a:r>
              <a:rPr lang="en-US" sz="2799">
                <a:solidFill>
                  <a:srgbClr val="000000"/>
                </a:solidFill>
                <a:latin typeface="Open Sauce"/>
                <a:ea typeface="Open Sauce"/>
                <a:cs typeface="Open Sauce"/>
                <a:sym typeface="Open Sauce"/>
              </a:rPr>
              <a:t>, June 23. https://explodingtopics.com/blog/reddit-users.</a:t>
            </a:r>
          </a:p>
          <a:p>
            <a:pPr algn="l">
              <a:lnSpc>
                <a:spcPts val="4479"/>
              </a:lnSpc>
            </a:pPr>
            <a:endParaRPr lang="en-US" sz="2799">
              <a:solidFill>
                <a:srgbClr val="000000"/>
              </a:solidFill>
              <a:latin typeface="Open Sauce"/>
              <a:ea typeface="Open Sauce"/>
              <a:cs typeface="Open Sauce"/>
              <a:sym typeface="Open Sauce"/>
            </a:endParaRPr>
          </a:p>
          <a:p>
            <a:pPr algn="l">
              <a:lnSpc>
                <a:spcPts val="4479"/>
              </a:lnSpc>
            </a:pPr>
            <a:r>
              <a:rPr lang="en-US" sz="2799">
                <a:solidFill>
                  <a:srgbClr val="000000"/>
                </a:solidFill>
                <a:latin typeface="Open Sauce"/>
                <a:ea typeface="Open Sauce"/>
                <a:cs typeface="Open Sauce"/>
                <a:sym typeface="Open Sauce"/>
              </a:rPr>
              <a:t>Godfrey, J.T. 2024. “New Study on Reddit Explores How Political Bias in Content Moderation Feeds Echo Chambers.” </a:t>
            </a:r>
            <a:r>
              <a:rPr lang="en-US" sz="2799" i="1">
                <a:solidFill>
                  <a:srgbClr val="000000"/>
                </a:solidFill>
                <a:latin typeface="Open Sauce Italics"/>
                <a:ea typeface="Open Sauce Italics"/>
                <a:cs typeface="Open Sauce Italics"/>
                <a:sym typeface="Open Sauce Italics"/>
              </a:rPr>
              <a:t>Michigan Ross</a:t>
            </a:r>
            <a:r>
              <a:rPr lang="en-US" sz="2799">
                <a:solidFill>
                  <a:srgbClr val="000000"/>
                </a:solidFill>
                <a:latin typeface="Open Sauce"/>
                <a:ea typeface="Open Sauce"/>
                <a:cs typeface="Open Sauce"/>
                <a:sym typeface="Open Sauce"/>
              </a:rPr>
              <a:t>, October 18. https://michiganross.umich.edu/news/new-study-reddit-explores-how-political-bias-content-moderation-feeds-echo-chambers#:~:text=For%20regular%20users%20of%20Reddit,limited%20to%20any%20one%20side.</a:t>
            </a:r>
          </a:p>
          <a:p>
            <a:pPr algn="l">
              <a:lnSpc>
                <a:spcPts val="4479"/>
              </a:lnSpc>
            </a:pPr>
            <a:endParaRPr lang="en-US" sz="2799">
              <a:solidFill>
                <a:srgbClr val="000000"/>
              </a:solidFill>
              <a:latin typeface="Open Sauce"/>
              <a:ea typeface="Open Sauce"/>
              <a:cs typeface="Open Sauce"/>
              <a:sym typeface="Open Sauce"/>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166399" y="1290975"/>
            <a:ext cx="5934952" cy="514350"/>
          </a:xfrm>
          <a:prstGeom prst="rect">
            <a:avLst/>
          </a:prstGeom>
        </p:spPr>
        <p:txBody>
          <a:bodyPr lIns="0" tIns="0" rIns="0" bIns="0" rtlCol="0" anchor="t">
            <a:spAutoFit/>
          </a:bodyPr>
          <a:lstStyle/>
          <a:p>
            <a:pPr algn="l">
              <a:lnSpc>
                <a:spcPts val="4200"/>
              </a:lnSpc>
            </a:pPr>
            <a:r>
              <a:rPr lang="en-US" sz="3000">
                <a:solidFill>
                  <a:srgbClr val="000000"/>
                </a:solidFill>
                <a:latin typeface="DM Serif Display"/>
                <a:ea typeface="DM Serif Display"/>
                <a:cs typeface="DM Serif Display"/>
                <a:sym typeface="DM Serif Display"/>
              </a:rPr>
              <a:t>References</a:t>
            </a:r>
          </a:p>
        </p:txBody>
      </p:sp>
      <p:sp>
        <p:nvSpPr>
          <p:cNvPr id="5" name="TextBox 5"/>
          <p:cNvSpPr txBox="1"/>
          <p:nvPr/>
        </p:nvSpPr>
        <p:spPr>
          <a:xfrm>
            <a:off x="880649" y="2112623"/>
            <a:ext cx="16240953" cy="1657985"/>
          </a:xfrm>
          <a:prstGeom prst="rect">
            <a:avLst/>
          </a:prstGeom>
        </p:spPr>
        <p:txBody>
          <a:bodyPr lIns="0" tIns="0" rIns="0" bIns="0" rtlCol="0" anchor="t">
            <a:spAutoFit/>
          </a:bodyPr>
          <a:lstStyle/>
          <a:p>
            <a:pPr algn="l">
              <a:lnSpc>
                <a:spcPts val="4479"/>
              </a:lnSpc>
            </a:pPr>
            <a:r>
              <a:rPr lang="en-US" sz="2799">
                <a:solidFill>
                  <a:srgbClr val="000000"/>
                </a:solidFill>
                <a:latin typeface="Open Sauce"/>
                <a:ea typeface="Open Sauce"/>
                <a:cs typeface="Open Sauce"/>
                <a:sym typeface="Open Sauce"/>
              </a:rPr>
              <a:t>Jungherr, Andreas, Oliver Posegga, and Jisun An. 2021. “Populist Supporters on Reddit: A Comparison of Content and Behavioral Patterns Within Publics of Supporters of Donald Trump and Hillary Clinton.” </a:t>
            </a:r>
            <a:r>
              <a:rPr lang="en-US" sz="2799" i="1">
                <a:solidFill>
                  <a:srgbClr val="000000"/>
                </a:solidFill>
                <a:latin typeface="Open Sauce Italics"/>
                <a:ea typeface="Open Sauce Italics"/>
                <a:cs typeface="Open Sauce Italics"/>
                <a:sym typeface="Open Sauce Italics"/>
              </a:rPr>
              <a:t>Social Science Computer Review</a:t>
            </a:r>
            <a:r>
              <a:rPr lang="en-US" sz="2799">
                <a:solidFill>
                  <a:srgbClr val="000000"/>
                </a:solidFill>
                <a:latin typeface="Open Sauce"/>
                <a:ea typeface="Open Sauce"/>
                <a:cs typeface="Open Sauce"/>
                <a:sym typeface="Open Sauce"/>
              </a:rPr>
              <a:t> 40(3): 809-830.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454</TotalTime>
  <Words>1897</Words>
  <Application>Microsoft Office PowerPoint</Application>
  <PresentationFormat>Custom</PresentationFormat>
  <Paragraphs>168</Paragraphs>
  <Slides>31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DM Serif Display</vt:lpstr>
      <vt:lpstr>Canva Sans</vt:lpstr>
      <vt:lpstr>Open Sauce Italics</vt:lpstr>
      <vt:lpstr>Open Sauce</vt:lpstr>
      <vt:lpstr>Open Sauce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SICSS 2025 Presentation</dc:title>
  <cp:lastModifiedBy>Miftahul Jannat Mokarrama</cp:lastModifiedBy>
  <cp:revision>3</cp:revision>
  <dcterms:created xsi:type="dcterms:W3CDTF">2006-08-16T00:00:00Z</dcterms:created>
  <dcterms:modified xsi:type="dcterms:W3CDTF">2026-03-13T22:42:31Z</dcterms:modified>
  <dc:identifier>DAGxTDxjgYc</dc:identifier>
</cp:coreProperties>
</file>